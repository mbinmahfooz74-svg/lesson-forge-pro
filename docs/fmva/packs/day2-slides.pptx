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51480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Shape 1"/>
          <p:cNvSpPr/>
          <p:nvPr/>
        </p:nvSpPr>
        <p:spPr>
          <a:xfrm>
            <a:off x="256032" y="0"/>
            <a:ext cx="8887968" cy="109728"/>
          </a:xfrm>
          <a:prstGeom prst="rect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05156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 2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85800" y="14173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Statement Forecasting and Analysis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85800" y="29718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FMVA Certification Prep: Financial Modeling and Valuation Bootcamp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434340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470916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content is educational material only and does not constitute financial, investment, or trading advice.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agenda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234440"/>
            <a:ext cx="7680960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Revenue Forecast from Historical Trends and Drivers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Forecasting COGS, Operating Expenses, and EBITDA Margins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Projecting the Balance Sheet: Working Capital, PP&amp;E, and Debt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Linking the Three Statements into an Integrated Financial Model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Ratio Analysis: Diagnosing Performance and Benchmarking</a:t>
            </a:r>
            <a:endParaRPr lang="en-US" sz="1600" dirty="0"/>
          </a:p>
          <a:p>
            <a:pPr marL="177800" indent="-177800">
              <a:spcAft>
                <a:spcPts val="1000"/>
              </a:spcAft>
              <a:buSzPct val="100000"/>
              <a:buChar char="▪"/>
            </a:pPr>
            <a:r>
              <a:rPr lang="en-US" sz="16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and Sensitivity Analysis: Stress-Testing the Forecast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a Revenue Forecast from Historical Trends and Drivers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forecasting drives every downstream projection in your model.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 revenue into Units Sold × Average Selling Price (ASP).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responds to demand, distribution, and competitive share shifts.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 reflects pricing power, product mix, and market conditions.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Driver-based forecasts make scenario analysis explicit and defensible.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Separating price from volume forces disciplined assumptions and reveals which levers truly move your top line.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Forecasting COGS, Operating Expenses, and EBITDA Margins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every income statement line to a logical driver, not arbitrary rates.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COGS as a percentage of revenue; it is predominantly variable.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gross margin % from three to five years of historical data.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 historical averages with management guidance and industry benchmarks.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Profit = Revenue × Gross Margin % keeps the forecast auditable.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credible income statement model ties each line item to a defensible driver rather than a plugged growth rate.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Forecast: Historical &amp; Projected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10% CAGR tapered to 8% reflecting market maturity and management guidance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685800" y="4206240"/>
            <a:ext cx="7772400" cy="0"/>
          </a:xfrm>
          <a:prstGeom prst="line">
            <a:avLst/>
          </a:prstGeom>
          <a:noFill/>
          <a:ln w="12700">
            <a:solidFill>
              <a:srgbClr val="1C191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9180" y="2285925"/>
            <a:ext cx="777240" cy="1920315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8" name="Text 6"/>
          <p:cNvSpPr/>
          <p:nvPr/>
        </p:nvSpPr>
        <p:spPr>
          <a:xfrm>
            <a:off x="876300" y="2011605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3058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FY2020 Actual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308860" y="2093893"/>
            <a:ext cx="777240" cy="2112347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2125980" y="1819573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08026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FY2021 Actual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558540" y="1882659"/>
            <a:ext cx="777240" cy="2323581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3375660" y="1608339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968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32994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FY2022 Actual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8220" y="1697829"/>
            <a:ext cx="777240" cy="2508411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7" name="Text 15"/>
          <p:cNvSpPr/>
          <p:nvPr/>
        </p:nvSpPr>
        <p:spPr>
          <a:xfrm>
            <a:off x="4625340" y="1423509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1045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57962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FY2023 Forecast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057900" y="1496195"/>
            <a:ext cx="777240" cy="2710045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0" name="Text 18"/>
          <p:cNvSpPr/>
          <p:nvPr/>
        </p:nvSpPr>
        <p:spPr>
          <a:xfrm>
            <a:off x="5875020" y="1221875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1129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82930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FY2024 Forecast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7307580" y="1280160"/>
            <a:ext cx="777240" cy="292608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3" name="Text 21"/>
          <p:cNvSpPr/>
          <p:nvPr/>
        </p:nvSpPr>
        <p:spPr>
          <a:xfrm>
            <a:off x="7124700" y="1005840"/>
            <a:ext cx="1143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1219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078980" y="4315968"/>
            <a:ext cx="12344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FY2025 Forecast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Projecting the Balance Sheet: Working Capital, PP&amp;E, and Debt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balance sheet line must link to a ratio estimate or supporting schedule.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Forecast AR, inventory, and AP using days-based ratios (DSO, DIO, DPO).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Days-based ratios translate operational efficiency assumptions into dollar balances.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PP&amp;E rolls forward via a depreciation schedule tied to capital expenditures.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linkages ensure the model balances cleanly every period.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Days-based ratio forecasting is the disciplined method that keeps working capital projections grounded in operational reality.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Linking the Three Statements into an Integrated Financial Model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assumption change should ripple automatically through all three statements.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income from the income statement anchors the cash flow statement directly.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Non-cash add-backs like D&amp;A convert accrual income to operating cash flow.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capital changes on the balance sheet adjust operating cash flow further.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Ending cash balance feeds back into the balance sheet to close the loop.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properly integrated model ensures every assumption change flows consistently through income, cash flow, and balance sheet simultaneously.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Driver-Based Revenue Forecast Process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forces explicit, auditable assumptions linking drivers to projected revenue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41148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Decompose Revenue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148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into price times volume components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7802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1" name="Shape 9"/>
          <p:cNvSpPr/>
          <p:nvPr/>
        </p:nvSpPr>
        <p:spPr>
          <a:xfrm>
            <a:off x="283464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0779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83464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Calculate CAGR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83464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3–5 years to smooth noise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901184" y="1842516"/>
            <a:ext cx="301752" cy="201168"/>
          </a:xfrm>
          <a:prstGeom prst="rightArrow">
            <a:avLst/>
          </a:prstGeom>
          <a:solidFill>
            <a:srgbClr val="B45309"/>
          </a:solidFill>
          <a:ln/>
        </p:spPr>
      </p:sp>
      <p:sp>
        <p:nvSpPr>
          <p:cNvPr id="16" name="Shape 14"/>
          <p:cNvSpPr/>
          <p:nvPr/>
        </p:nvSpPr>
        <p:spPr>
          <a:xfrm>
            <a:off x="5257800" y="14630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30952" y="153619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257800" y="173736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Adjust for Cycle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57800" y="208483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Taper rate for market maturity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163056" y="2496312"/>
            <a:ext cx="201168" cy="548640"/>
          </a:xfrm>
          <a:prstGeom prst="downArrow">
            <a:avLst/>
          </a:prstGeom>
          <a:solidFill>
            <a:srgbClr val="B45309"/>
          </a:solidFill>
          <a:ln/>
        </p:spPr>
      </p:sp>
      <p:sp>
        <p:nvSpPr>
          <p:cNvPr id="21" name="Shape 19"/>
          <p:cNvSpPr/>
          <p:nvPr/>
        </p:nvSpPr>
        <p:spPr>
          <a:xfrm>
            <a:off x="525780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3095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25780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to KPIs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25780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with units, ASP, share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90118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26" name="Shape 24"/>
          <p:cNvSpPr/>
          <p:nvPr/>
        </p:nvSpPr>
        <p:spPr>
          <a:xfrm>
            <a:off x="283464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0779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83464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Forecast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83464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each business unit separately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78024" y="3488436"/>
            <a:ext cx="301752" cy="201168"/>
          </a:xfrm>
          <a:prstGeom prst="leftArrow">
            <a:avLst/>
          </a:prstGeom>
          <a:solidFill>
            <a:srgbClr val="B45309"/>
          </a:solidFill>
          <a:ln/>
        </p:spPr>
      </p:sp>
      <p:sp>
        <p:nvSpPr>
          <p:cNvPr id="31" name="Shape 29"/>
          <p:cNvSpPr/>
          <p:nvPr/>
        </p:nvSpPr>
        <p:spPr>
          <a:xfrm>
            <a:off x="411480" y="31089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5F5F4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182112"/>
            <a:ext cx="310896" cy="274320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11480" y="33832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 Table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11480" y="3730752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6%, 8%, 10% growth scenarios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Ratio Analysis: Diagnosing Performance and Benchmarking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Ratios create context that raw dollar figures alone cannot provide.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ratios against prior periods and industry peers for real insight.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Ratio = Current Assets ÷ Current Liabilities; above 1.0 is healthy.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Ratio removes inventory for a stricter test of near-term liquidity.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Ratios only become meaningful signals when benchmarked consistently over time.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ratios transform raw numbers into actionable signals about liquidity, efficiency, and performance relative to peers.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384048"/>
            <a:ext cx="82296" cy="310896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 Statement Forecasting Hierarchy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66928" y="4681728"/>
            <a:ext cx="8138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accuracy is most critical; errors compound downward through every margin line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11480" y="4919472"/>
            <a:ext cx="83210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 flipV="1">
            <a:off x="2084832" y="1234440"/>
            <a:ext cx="2048256" cy="658368"/>
          </a:xfrm>
          <a:prstGeom prst="trapezoid">
            <a:avLst/>
          </a:prstGeom>
          <a:solidFill>
            <a:srgbClr val="B45309">
              <a:alpha val="4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2084832" y="1289304"/>
            <a:ext cx="20482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(Top Line)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760720" y="1417320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downstream items inherit this assumption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1700784" y="1984248"/>
            <a:ext cx="2816352" cy="658368"/>
          </a:xfrm>
          <a:prstGeom prst="trapezoid">
            <a:avLst/>
          </a:prstGeom>
          <a:solidFill>
            <a:srgbClr val="B45309">
              <a:alpha val="54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1700784" y="2039112"/>
            <a:ext cx="281635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Profit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60720" y="2167128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modeled as % of revenue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 flipV="1">
            <a:off x="1316736" y="2734056"/>
            <a:ext cx="3584448" cy="658368"/>
          </a:xfrm>
          <a:prstGeom prst="trapezoid">
            <a:avLst/>
          </a:prstGeom>
          <a:solidFill>
            <a:srgbClr val="B45309">
              <a:alpha val="67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1316736" y="2788920"/>
            <a:ext cx="358444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Income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760720" y="2916936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Split fixed vs. variable OpEx drivers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932688" y="3483864"/>
            <a:ext cx="4352544" cy="658368"/>
          </a:xfrm>
          <a:prstGeom prst="trapezoid">
            <a:avLst/>
          </a:prstGeom>
          <a:solidFill>
            <a:srgbClr val="B45309">
              <a:alpha val="81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538728"/>
            <a:ext cx="435254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60720" y="3666744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Blend historical avg with mgmt targets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 flipV="1">
            <a:off x="548640" y="4233672"/>
            <a:ext cx="5120640" cy="658368"/>
          </a:xfrm>
          <a:prstGeom prst="trapezoid">
            <a:avLst/>
          </a:prstGeom>
          <a:solidFill>
            <a:srgbClr val="B45309">
              <a:alpha val="95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42885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Income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60720" y="4416552"/>
            <a:ext cx="29260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871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D&amp;A, interest, tax from support schedules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02336"/>
            <a:ext cx="82296" cy="32918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292608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 and Sensitivity Analysis: Stress-Testing the Forecast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411480" y="960120"/>
            <a:ext cx="8321040" cy="0"/>
          </a:xfrm>
          <a:prstGeom prst="line">
            <a:avLst/>
          </a:prstGeom>
          <a:noFill/>
          <a:ln w="12700">
            <a:solidFill>
              <a:srgbClr val="E7E5E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864608"/>
            <a:ext cx="83210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731520" y="1188720"/>
            <a:ext cx="768096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Stress-testing replaces a single-point forecast with a decision-useful outcome range.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assumptions by leverage on output before building any sensitivity table.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 rate and EBITDA margin drive the majority of net income variance.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100 bps shift in either metric moves results by roughly $10M per $1B revenue.</a:t>
            </a:r>
            <a:endParaRPr lang="en-US" sz="15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Tornado charts visually rank which assumptions matter most to stakeholders.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041648"/>
            <a:ext cx="7680960" cy="566928"/>
          </a:xfrm>
          <a:prstGeom prst="roundRect">
            <a:avLst>
              <a:gd name="adj" fmla="val 12903"/>
            </a:avLst>
          </a:prstGeom>
          <a:solidFill>
            <a:srgbClr val="B45309">
              <a:alpha val="12000"/>
            </a:srgbClr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087368"/>
            <a:ext cx="7406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  </a:t>
            </a:r>
            <a:pPr indent="0" marL="0">
              <a:buNone/>
            </a:pPr>
            <a:r>
              <a:rPr lang="en-US" sz="1150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Identifying and stress-testing your highest-leverage assumptions turns a static forecast into a powerful tool for strategic decision-making.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480560"/>
            <a:ext cx="9144000" cy="66751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214884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C19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Next: practice problems in your textbook chapter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85800" y="4599432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Lesson Forge Pro (owner) — This content is educational material only and does not constitute financial, investment, or trading advice.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2026-07-09T20:23:37Z</dcterms:created>
  <dcterms:modified xsi:type="dcterms:W3CDTF">2026-07-09T20:23:37Z</dcterms:modified>
</cp:coreProperties>
</file>