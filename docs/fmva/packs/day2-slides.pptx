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80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Statement Forecasting and Analysis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FMVA Certification Prep: Financial Modeling and Valuation Bootcamp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content is educational material only and does not constitute financial, investment, or trading advice.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Vocabulary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Financial Forecasting Fits in Practice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and Core Linkage Formula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Terminology Applied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What You Need Before Modeling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Forecasting Steps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Ridgeline Manufacturing Year 1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and Integrity Checks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Use Cases for Forecasted Statements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Forecasting Mistakes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Flawed Forecast Corrected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 Before Finalizing Any Forecast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Vocabulary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forecasting bridges accounting, corporate finance, and strategic planning.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terminology transforms raw data into actionable decisions.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in language prevents costly misinterpretation of financial outputs.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vocabulary enables collaboration across finance, accounting, and strategy teams.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shared, precise vocabulary is the foundation of any credible financial forecasting effort.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primary statements: income statement, balance sheet, cash flow, equity changes.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forma statements project historical reports into future periods.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model links assumptions to outputs through connected formulas.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one input—like revenue growth—cascades through the entire model.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drivers: growth rate, margins, working capital behavior, and capital expenditure.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forma statements are driver-based projections where every output traces to an explicit assumption.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Financial Forecasting Fits in Practice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underpin DCF valuation, M&amp;A due diligence, and LBO modeling.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analysts use projections to assess repayment capacity and leverage.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FP&amp;A teams translate forecasts into budgets and capital allocation plans.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 use pro formas to demonstrate viability to investors and lenders.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MD&amp;A sections provide narrative context for calibrating forecast assumptions.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statement forecasting is the common engine behind virtually every high-stakes financial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and Core Linkage Formula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current period; t-1 = prior historical anchor period.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growth rate; EBIT, EBITDA, NWC, and FCF are standard abbreviations.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Cash = Beginning Cash + CFO + CFI + CFF links all three statements.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notation prevents formula errors and speeds model review.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CFI, and CFF represent operating, investing, and financing cash flows.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notation and the cash linkage formula are the connective tissue of any three-statement model.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Forecasting Procedure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feeds the next; changing one driver flows through all statements.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yrs historical statements, assumptions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7802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growth rate to prior period revenue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118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Income Statement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drives COGS, EBIT, net income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2496312"/>
            <a:ext cx="201168" cy="548640"/>
          </a:xfrm>
          <a:prstGeom prst="downArrow">
            <a:avLst/>
          </a:prstGeom>
          <a:solidFill>
            <a:srgbClr val="B45309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Balance Sheet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DSO, DIO, DPO link to revenue or COGS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0118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&amp; Interest Schedule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debt balances and interest expense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7802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Statement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Cash = Begin + CFO + CFI + CFF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Terminology Applied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 Ridge: Year 0 revenue $4M, g = 10%, gross margin = 40%.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revenue: $4,000,000 × 1.10 = $4,400,000.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profit: $4,400,000 × 40% = $1,760,000; COGS = $2,640,000.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EBIT: $1,760,000 − $800,000 operating expenses = $960,000.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traces back to just two drivers: growth rate and gross margin.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two-driver model illustrates how assumptions cascade into a complete pro forma income statement.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What You Need Before Modeling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at least three years of historical income statements, balance sheets, cash flows.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assumptions: growth rates, margins, CapEx schedules, working capital policies.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assumptions: debt levels, interest rates, dividend policy, equity issuances.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assumptions from management guidance, industry benchmarks, and your own analysis.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in, garbage out—input quality determines forecast credibility.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High-quality, well-sourced inputs are the single most important determinant of forecast reliability.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Forecasting Steps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Forecast revenue—the engine driving nearly every other line item.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Build income statement top-to-bottom using margin and expense drivers.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Forecast balance sheet using days-outstanding metrics and PP&amp;E roll-forward.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Build debt and interest schedule; link interest expense to debt balances.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rationale for every assumption before touching a formula.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disciplined, sequential four-step procedure applies to any company, industry, or forecast horizon.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 Ridge Year 1 Pro Forma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derive from just two drivers: 10% growth rate and 40% gross margin.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4206240"/>
            <a:ext cx="77724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4148" y="1280160"/>
            <a:ext cx="777240" cy="2926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001268" y="100584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4400000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5548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83764" y="2450592"/>
            <a:ext cx="777240" cy="17556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2500884" y="217627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2640000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55164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83380" y="3035808"/>
            <a:ext cx="777240" cy="1170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000500" y="276148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1760000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5478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82996" y="3674225"/>
            <a:ext cx="777240" cy="53201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5500116" y="3399905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54396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82612" y="3567823"/>
            <a:ext cx="777240" cy="638417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999732" y="3293503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960000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54012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Ridgeline Manufacturing Year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$10M × 1.08 = $10.8M; gross profit at 40% = $4.32M.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EBIT: $4.32M − $2.2M opex = $2.12M; net income after interest and tax = $1.455M.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AR: ($10.8M ÷ 365) × 45 days DSO = $1,331,507.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PP&amp;E: $2M + $500K CapEx − $300K depreciation = $2.2M.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CF: net income $1.455M + depreciation $300K = $1.755M.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balance sheet and cash flow figure in this example links directly to an income statement or operational driver.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and Integrity Checks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projected income statement, balance sheet, and cash flow statement.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must balance: total assets = total liabilities + equity, always.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cash on cash flow statement must match cash on the balance sheet.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Ratios—gross margin, EBITDA margin, leverage—must move consistently with assumptions.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trace net income explicitly into retained earnings before declaring model complete.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is only complete when it balances, reconciles, and passes ratio sanity checks in every period.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Use Cases for Forecasted Statements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valuation and M&amp;A: projected free cash flows feed the discounted cash flow analysis.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FP&amp;A and budgeting: forecasts translate strategy into headcount and CapEx plans.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analysis: projected coverage and leverage ratios assess repayment capacity.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funding: forecasts show breakeven timing and capital needed to get there.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depends entirely on assumptions grounded in data and logical relationships.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Forecasted financial statements are the universal currency of high-stakes financial analysis across every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Model Drivers Hierarchy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at the top have the broadest downstream impact on all three statements.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 flipV="1">
            <a:off x="2084832" y="1234440"/>
            <a:ext cx="2048256" cy="658368"/>
          </a:xfrm>
          <a:prstGeom prst="trapezoid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289304"/>
            <a:ext cx="20482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41732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Top-line engine; all else flows from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V="1">
            <a:off x="1700784" y="1984248"/>
            <a:ext cx="2816352" cy="658368"/>
          </a:xfrm>
          <a:prstGeom prst="trapezoid">
            <a:avLst/>
          </a:prstGeom>
          <a:solidFill>
            <a:srgbClr val="B45309">
              <a:alpha val="5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00784" y="2039112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16712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COGS and profitability ceiling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1316736" y="2734056"/>
            <a:ext cx="3584448" cy="658368"/>
          </a:xfrm>
          <a:prstGeom prst="trapezoid">
            <a:avLst/>
          </a:prstGeom>
          <a:solidFill>
            <a:srgbClr val="B45309">
              <a:alpha val="6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16736" y="2788920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 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91693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or % of revenue; drives EBIT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V="1">
            <a:off x="932688" y="3483864"/>
            <a:ext cx="4352544" cy="658368"/>
          </a:xfrm>
          <a:prstGeom prst="trapezoid">
            <a:avLst/>
          </a:prstGeom>
          <a:solidFill>
            <a:srgbClr val="B45309">
              <a:alpha val="81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538728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Days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366674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DSO, DIO, DPO shape cash conversion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548640" y="4233672"/>
            <a:ext cx="5120640" cy="658368"/>
          </a:xfrm>
          <a:prstGeom prst="trapezoid">
            <a:avLst/>
          </a:prstGeom>
          <a:solidFill>
            <a:srgbClr val="B45309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8853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&amp; Depreciation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441655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PP&amp;E roll and FCF calculation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Forecasting Mistakes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logic: interest expense loops require iterative calculation enabled in the spreadsheet.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drivers: COGS as a fixed dollar amount breaks its link to revenue.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working capital: growing revenue consumes cash through receivables and inventory.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Straight-lining margins without justification ignores competitive and cost pressures.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to update retained earnings causes unexplained balance sheet imbalances.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most damaging modeling errors all share one root cause: breaking the logical link between drivers and outputs.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Flawed Forecast Corrected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0: revenue $10M, COGS 60%, SG&amp;A $1.5M; Year 1 growth = 12%.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revenue: $10M × 1.12 = $11.2M.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analyst left COGS fixed at $6M, overstating gross profit by $720,000.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COGS: $11.2M × 60% = $6.72M—always use a percentage-of-revenue driver.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item must trace to an explicit, defensible, revenue-linked assumption.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fixed-dollar COGS entry can overstate gross profit by hundreds of thousands—always use driver-based forecasting.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 Before Finalizing Any Forecast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trend test: sudden 500 bps expansion with no explanation is a red flag.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must balance in every projected period without exception.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net income through working capital and CapEx to confirm ending cash.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projected ratios against industry peers and the company's own history.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 implied assumptions behind any margin that exceeds historical highs.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sanity checks—not just mechanical accuracy—separate a trustworthy forecast from a dangerous one.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48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practice problems in your textbook chapter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45994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2026-07-09T15:15:25Z</dcterms:created>
  <dcterms:modified xsi:type="dcterms:W3CDTF">2026-07-09T15:15:25Z</dcterms:modified>
</cp:coreProperties>
</file>