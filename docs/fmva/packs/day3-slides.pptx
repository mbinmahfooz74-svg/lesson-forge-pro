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514807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Shape 1"/>
          <p:cNvSpPr/>
          <p:nvPr/>
        </p:nvSpPr>
        <p:spPr>
          <a:xfrm>
            <a:off x="256032" y="0"/>
            <a:ext cx="8887968" cy="109728"/>
          </a:xfrm>
          <a:prstGeom prst="rect">
            <a:avLst/>
          </a:prstGeom>
          <a:solidFill>
            <a:srgbClr val="B45309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051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41732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Discounted Cash Flow (DCF) Valuation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85800" y="29718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FMVA Certification Prep: Financial Modeling and Valuation Bootcamp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43434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47091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content is educational material only and does not constitute financial, investment, or trading advice.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agenda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234440"/>
            <a:ext cx="768096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Value of Money and the DCF Discount Mechanism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Projecting Free Cash Flow to the Firm (FCFF)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Calculating WACC as the DCF Discount Rate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Value: Gordon Growth Model and Exit Multiple Methods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Assembling the Full DCF Model and Deriving Equity Value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Sensitivity Analysis and Critical Evaluation of DCF Outputs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Value of Money and the DCF Discount Mechanism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dollar today beats a future dollar due to opportunity cost and risk.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 converts future cash flows into comparable present-day equivalents.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formula: PV = FV / (1 + r)^n.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Discount rate r reflects both required return and uncertainty.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n or higher r shrinks present value dramatically.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 valuation rests on one principle: future cash flows must be discounted to today's dollars before they can be meaningfully compared.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Projecting Free Cash Flow to the Firm (FCFF)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FCFF = EBIT × (1 − Tax Rate) + D&amp;A − CapEx − ΔNWC.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Starting from EBIT removes financing costs, making FCFF capital-structure-neutral.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growth is the single driver that flows through every line item.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FCFF represents cash available to both equity and debt holders.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Driver-based models are more defensible and easier to stress-test.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clean, revenue-driven FCFF model is the foundation of any credible DCF valuation.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84048"/>
            <a:ext cx="82296" cy="310896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 Valuation: Step-by-Step Process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66928" y="4681728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step feeds the next; changing revenue growth ripples through the entire model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4919472"/>
            <a:ext cx="8321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11480" y="146304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53619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73736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Revenue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208483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 COGS, SG&amp;A, D&amp;A from revenue growth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478024" y="1842516"/>
            <a:ext cx="301752" cy="201168"/>
          </a:xfrm>
          <a:prstGeom prst="rightArrow">
            <a:avLst/>
          </a:prstGeom>
          <a:solidFill>
            <a:srgbClr val="B45309"/>
          </a:solidFill>
          <a:ln/>
        </p:spPr>
      </p:sp>
      <p:sp>
        <p:nvSpPr>
          <p:cNvPr id="11" name="Shape 9"/>
          <p:cNvSpPr/>
          <p:nvPr/>
        </p:nvSpPr>
        <p:spPr>
          <a:xfrm>
            <a:off x="2834640" y="146304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07792" y="153619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834640" y="173736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 FCFF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834640" y="208483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EBIT×(1−Tax)+D&amp;A−CapEx−ΔNWC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901184" y="1842516"/>
            <a:ext cx="301752" cy="201168"/>
          </a:xfrm>
          <a:prstGeom prst="rightArrow">
            <a:avLst/>
          </a:prstGeom>
          <a:solidFill>
            <a:srgbClr val="B45309"/>
          </a:solidFill>
          <a:ln/>
        </p:spPr>
      </p:sp>
      <p:sp>
        <p:nvSpPr>
          <p:cNvPr id="16" name="Shape 14"/>
          <p:cNvSpPr/>
          <p:nvPr/>
        </p:nvSpPr>
        <p:spPr>
          <a:xfrm>
            <a:off x="5257800" y="146304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30952" y="153619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257800" y="173736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WACC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257800" y="208483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Blend after-tax cost of debt and equity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163056" y="2496312"/>
            <a:ext cx="201168" cy="548640"/>
          </a:xfrm>
          <a:prstGeom prst="downArrow">
            <a:avLst/>
          </a:prstGeom>
          <a:solidFill>
            <a:srgbClr val="B45309"/>
          </a:solidFill>
          <a:ln/>
        </p:spPr>
      </p:sp>
      <p:sp>
        <p:nvSpPr>
          <p:cNvPr id="21" name="Shape 19"/>
          <p:cNvSpPr/>
          <p:nvPr/>
        </p:nvSpPr>
        <p:spPr>
          <a:xfrm>
            <a:off x="5257800" y="310896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30952" y="318211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257800" y="338328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Discount Cash Flows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257800" y="373075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Divide each FCFF by (1+WACC)^t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901184" y="3488436"/>
            <a:ext cx="301752" cy="201168"/>
          </a:xfrm>
          <a:prstGeom prst="leftArrow">
            <a:avLst/>
          </a:prstGeom>
          <a:solidFill>
            <a:srgbClr val="B45309"/>
          </a:solidFill>
          <a:ln/>
        </p:spPr>
      </p:sp>
      <p:sp>
        <p:nvSpPr>
          <p:cNvPr id="26" name="Shape 24"/>
          <p:cNvSpPr/>
          <p:nvPr/>
        </p:nvSpPr>
        <p:spPr>
          <a:xfrm>
            <a:off x="2834640" y="310896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07792" y="318211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834640" y="338328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Terminal Value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834640" y="373075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value beyond explicit forecast period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478024" y="3488436"/>
            <a:ext cx="301752" cy="201168"/>
          </a:xfrm>
          <a:prstGeom prst="leftArrow">
            <a:avLst/>
          </a:prstGeom>
          <a:solidFill>
            <a:srgbClr val="B45309"/>
          </a:solidFill>
          <a:ln/>
        </p:spPr>
      </p:sp>
      <p:sp>
        <p:nvSpPr>
          <p:cNvPr id="31" name="Shape 29"/>
          <p:cNvSpPr/>
          <p:nvPr/>
        </p:nvSpPr>
        <p:spPr>
          <a:xfrm>
            <a:off x="411480" y="310896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" y="318211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11480" y="338328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Value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11480" y="373075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 of all discounted cash flows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Calculating WACC as the DCF Discount Rate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WACC = (E/V) × Ke + (D/V) × Kd × (1 − t).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Weights must use market values, not outdated book values.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of equity estimated via CAPM: Ke = Rf + β × (Rm − Rf).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Pre-tax cost of debt is tax-adjusted because interest is deductible.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input must be grounded in current, observable market data.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WACC is a precisely constructed required return, not a guess, and every component demands rigorous market-based support.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Value: Gordon Growth Model and Exit Multiple Methods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value typically represents 60–80% of total enterprise value.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Gordon Growth Model: TV = FCF × (1 + g) / (WACC − g).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Multiple Method applies an industry multiple to a final-year metric.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rate g must stay below long-run GDP growth to be credible.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cross-check both methods; large divergence signals a flawed assumption.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value dominates DCF results, so choosing and cross-checking your method carefully is non-negotiable.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84048"/>
            <a:ext cx="82296" cy="310896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 Value Erosion Over Time (10% Rate)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66928" y="4681728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additional year at 10% discount rate reduces present value by roughly $40,000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4919472"/>
            <a:ext cx="8321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85800" y="4206240"/>
            <a:ext cx="7772400" cy="0"/>
          </a:xfrm>
          <a:prstGeom prst="line">
            <a:avLst/>
          </a:prstGeom>
          <a:noFill/>
          <a:ln w="12700">
            <a:solidFill>
              <a:srgbClr val="1C191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1280160"/>
            <a:ext cx="777240" cy="292608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1005840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500000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143000" y="4315968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0 (FV)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46120" y="1546170"/>
            <a:ext cx="777240" cy="266007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3063240" y="1271850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454545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017520" y="4315968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1 PV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120640" y="1787993"/>
            <a:ext cx="777240" cy="2418247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4" name="Text 12"/>
          <p:cNvSpPr/>
          <p:nvPr/>
        </p:nvSpPr>
        <p:spPr>
          <a:xfrm>
            <a:off x="4937760" y="1513673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413223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892040" y="4315968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2 PV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995160" y="2007835"/>
            <a:ext cx="777240" cy="2198405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7" name="Text 15"/>
          <p:cNvSpPr/>
          <p:nvPr/>
        </p:nvSpPr>
        <p:spPr>
          <a:xfrm>
            <a:off x="6812280" y="1733515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375657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0" y="4315968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3 PV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Assembling the Full DCF Model and Deriving Equity Value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Value = PV of explicit-period FCFFs + PV of Terminal Value.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Discount each year's FCFF and terminal value at WACC.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Equity Value = Enterprise Value − Net Debt.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Divide Equity Value by diluted shares outstanding for intrinsic price per share.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model modular so assumptions are easy to audit and update.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Assembling a DCF is a disciplined chain from projected cash flows to a per-share intrinsic value, with every link traceable.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84048"/>
            <a:ext cx="82296" cy="310896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FCFF Build-Up Hierarchy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66928" y="4681728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at the base with revenue-driven margins; FCFF emerges at the apex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4919472"/>
            <a:ext cx="8321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 flipV="1">
            <a:off x="1988820" y="1234440"/>
            <a:ext cx="2240280" cy="713232"/>
          </a:xfrm>
          <a:prstGeom prst="trapezoid">
            <a:avLst/>
          </a:prstGeom>
          <a:solidFill>
            <a:srgbClr val="B45309">
              <a:alpha val="4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1988820" y="1289304"/>
            <a:ext cx="22402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FCFF (Output)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760720" y="1444752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available to all capital providers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1508760" y="2039112"/>
            <a:ext cx="3200400" cy="713232"/>
          </a:xfrm>
          <a:prstGeom prst="trapezoid">
            <a:avLst/>
          </a:prstGeom>
          <a:solidFill>
            <a:srgbClr val="B45309">
              <a:alpha val="58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1508760" y="2093976"/>
            <a:ext cx="3200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NOPAT (EBIT×(1−Tax))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760720" y="2249424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profit stripped of financing effects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 flipV="1">
            <a:off x="1028700" y="2843784"/>
            <a:ext cx="4160520" cy="713232"/>
          </a:xfrm>
          <a:prstGeom prst="trapezoid">
            <a:avLst/>
          </a:prstGeom>
          <a:solidFill>
            <a:srgbClr val="B45309">
              <a:alpha val="77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028700" y="2898648"/>
            <a:ext cx="4160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Back D&amp;A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760720" y="3054096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Non-cash charge; restores operating cash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548640" y="3648456"/>
            <a:ext cx="5120640" cy="713232"/>
          </a:xfrm>
          <a:prstGeom prst="trapezoid">
            <a:avLst/>
          </a:prstGeom>
          <a:solidFill>
            <a:srgbClr val="B45309">
              <a:alpha val="95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703320"/>
            <a:ext cx="51206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Subtract CapEx &amp; ΔNWC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760720" y="3858768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Reinvestment needed to sustain growth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Sensitivity Analysis and Critical Evaluation of DCF Outputs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DCF output is fragile; always present a range of values.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WACC and terminal growth rate are the two highest-impact variables.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Two-variable data tables reveal how quickly value swings with small changes.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Compounding assumption errors can move equity value by hundreds of millions.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Sensitivity analysis distinguishes rigorous analysts from overconfident ones.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Sensitivity analysis converts a point estimate into a defensible value range, exposing which assumptions truly drive your conclusion.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480560"/>
            <a:ext cx="9144000" cy="66751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1488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Next: practice problems in your textbook chapter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85800" y="4599432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2026-07-09T20:29:58Z</dcterms:created>
  <dcterms:modified xsi:type="dcterms:W3CDTF">2026-07-09T20:29:58Z</dcterms:modified>
</cp:coreProperties>
</file>