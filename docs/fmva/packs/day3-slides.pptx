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80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B4530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Discounted Cash Flow (DCF) Valuation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FMVA Certification Prep: Financial Modeling and Valuation Bootcamp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content is educational material only and does not constitute financial, investment, or trading advice.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Concepts and Vocabulary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DCF Procedure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Applications and Pitfalls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Correcting a Flawed DCF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Sanity Checks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Concepts and Vocabulary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measures real money movement, not accounting profit.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Value (FV) is the nominal amount expected at a future date.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Value (PV) converts FV into today's equivalent worth.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rate (r) reflects the risk and time cost of money.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Discounting shrinks future cash flows back to present value.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valuation is built on four interlocking definitions: cash flow, future value, present value, and discount rate.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DCF Procedure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projected free cash flows over a 5–10 year horizon.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discount rate (typically WACC) matching cash flow risk.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terminal value via perpetuity growth or exit multiple.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all cash flows and terminal value to today.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present values to arrive at intrinsic firm or equity value.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valuation follows a disciplined four-input, step-by-step sequence that converts projected performance into intrinsic value.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Valuation: Standard Procedure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feeds the next; input errors compound dramatically across all periods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Free Cash Flows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FCFs for 5–10 year explicit horizon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78024" y="1842516"/>
            <a:ext cx="301752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Terminal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Gordon Growth Model beyond forecast period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01184" y="1842516"/>
            <a:ext cx="301752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Each FCF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each FCF by (1+r)^t individually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2496312"/>
            <a:ext cx="201168" cy="548640"/>
          </a:xfrm>
          <a:prstGeom prst="downArrow">
            <a:avLst/>
          </a:prstGeom>
          <a:solidFill>
            <a:srgbClr val="B45309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Terminal Value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TV back to present using (1+r)^n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01184" y="3488436"/>
            <a:ext cx="301752" cy="201168"/>
          </a:xfrm>
          <a:prstGeom prst="leftArrow">
            <a:avLst/>
          </a:prstGeom>
          <a:solidFill>
            <a:srgbClr val="B45309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All Present Values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equals enterprise value or project NPV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78024" y="3488436"/>
            <a:ext cx="301752" cy="201168"/>
          </a:xfrm>
          <a:prstGeom prst="leftArrow">
            <a:avLst/>
          </a:prstGeom>
          <a:solidFill>
            <a:srgbClr val="B45309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to Equity Value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net debt, add cash if needed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Applications and Pitfalls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equity valuation, M&amp;A, capital budgeting, and real estate.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value often represents 60–80% of total estimated value.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mix nominal cash flows with a real discount rate.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cash flow excludes net income shortcuts—capex and NWC matter.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growth above long-run GDP growth demands heavy scrutiny.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is widely applicable but easily misused; the terminal value assumption and cash flow definition are the highest-risk inputs.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vs. Discounted Cash Flows (10%)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total $53,000 vs. NPV $43,538 — $9,461 is the measurable cost of waiting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4206240"/>
            <a:ext cx="777240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9180" y="2011680"/>
            <a:ext cx="777240" cy="2194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173736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058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Nominal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08860" y="2211239"/>
            <a:ext cx="777240" cy="199500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2125980" y="1936919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13636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8026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Discounted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58540" y="1572768"/>
            <a:ext cx="777240" cy="2633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3375660" y="129844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2994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Nominal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8220" y="2029822"/>
            <a:ext cx="777240" cy="217641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4625340" y="175550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14876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962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Discounted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57900" y="1280160"/>
            <a:ext cx="777240" cy="2926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5875020" y="100584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2930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Nominal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07580" y="2007876"/>
            <a:ext cx="777240" cy="21983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7124700" y="1733556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7898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Discounted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Correcting a Flawed DCF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Wrong: using EBITDA directly as free cash flow overstates value.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FCF = EBITDA×(1−tax) − net capex − change in NWC.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firm: $500K EBITDA yields $315K correct FCF, not $500K.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growth of 6% far exceeds GDP—must be reduced.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fix compounds: errors in FCF and growth rate stack quickly.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flawed input—wrong FCF definition or an unrealistic growth rate—can dramatically distort a DCF conclusion.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Applicability: Risk vs. Market 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is most indispensable when comparable market data are scarce or unreliable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011680" y="1234440"/>
            <a:ext cx="512064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C19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234440"/>
            <a:ext cx="0" cy="3108960"/>
          </a:xfrm>
          <a:prstGeom prst="line">
            <a:avLst/>
          </a:prstGeom>
          <a:noFill/>
          <a:ln w="11430">
            <a:solidFill>
              <a:srgbClr val="1C19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2788920"/>
            <a:ext cx="5120640" cy="0"/>
          </a:xfrm>
          <a:prstGeom prst="line">
            <a:avLst/>
          </a:prstGeom>
          <a:noFill/>
          <a:ln w="11430">
            <a:solidFill>
              <a:srgbClr val="1C19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16002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B45309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600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DCF Tool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risk, scarce comps: private firms, novel projects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B45309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600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+ Market Cross-Check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risk, rich comps: distressed public companies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40280" y="31546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B45309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240280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as Sanity Check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risk, scarce comps: stable private assets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1546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B45309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Approach Preferred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risk, rich comps: liquid public equities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43982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Scarce Market Data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0" y="43982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Market Data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Risk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Risk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Sanity Checks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implied exit multiple to industry EV/EBITDA benchmarks.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sensitivity: WACC ±1% and terminal growth ±0.5%.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intrinsic value against trading comparable multiples.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nominal and real inputs are used consistently throughout.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net income to FCF line by line before finalizing.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sanity checks transform a mechanical DCF exercise into a credible, defensible 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48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practice problems in your textbook chapter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45994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2026-07-09T15:20:18Z</dcterms:created>
  <dcterms:modified xsi:type="dcterms:W3CDTF">2026-07-09T15:20:18Z</dcterms:modified>
</cp:coreProperties>
</file>