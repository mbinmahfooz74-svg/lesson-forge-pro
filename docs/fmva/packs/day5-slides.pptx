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80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for Mergers and Acquisitions (M&amp;A) and Investment Decisions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FMVA Certification Prep: Financial Modeling and Valuation Bootcamp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content is educational material only and does not constitute financial, investment, or trading advice.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Financial Modeling Fits in Practice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Notation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Terminology Applied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M&amp;A Modeling Procedure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Building the Foundation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Building the Model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DCF Valuation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Checks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and Pitfalls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quantifies a company's past, present, and projected reality.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vocabulary prevents costly errors in high-stakes M&amp;A decisions.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support acquisitions, divestitures, capital raises, and strategic investments.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Imprecise language directly produces imprecise, unreliable models.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M&amp;A modeling, getting the language right is the first line of defense against expensive mistakes.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model links assumptions to outputs through auditable formulas.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equals Equity Value plus Net Debt, ignoring capital structure.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 are incremental value neither company could create independently.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synergies come from cross-selling; cost synergies from eliminating redundancy.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equals Total Debt minus Cash and Cash Equivalents.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EV, equity value, and synergy definitions is foundational before building any M&amp;A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Financial Modeling Fits in Practice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determine fair offer prices for acquisition targets.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 stress-tests assumptions across bear, base, and bull cases.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satisfy due diligence requirements for boards, lenders, and regulators.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in banking, corporate development, and private equity build and consume models.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simultaneously forecasts, tells a story, and assesses risk.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is the analytical backbone connecting valuation, decision-making, and stakeholder communication.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Build-Up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Inc. mini-scenario: $18 share price, $120M debt, $20M cash, $40M EBITDA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77724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4148" y="2915322"/>
            <a:ext cx="777240" cy="129091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Text 6"/>
          <p:cNvSpPr/>
          <p:nvPr/>
        </p:nvSpPr>
        <p:spPr>
          <a:xfrm>
            <a:off x="1001268" y="264100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5548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Value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83764" y="2771887"/>
            <a:ext cx="777240" cy="143435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2500884" y="2497567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55164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Net Debt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83380" y="1337534"/>
            <a:ext cx="777240" cy="1434353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4000500" y="1063214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5478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82996" y="1280160"/>
            <a:ext cx="777240" cy="5737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5500116" y="100584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54396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82612" y="4170381"/>
            <a:ext cx="777240" cy="3585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999732" y="3896061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54012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Multiple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Notation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= Enterprise Value; Mkt Cap = Equity Value (Market Capitalization).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measures operating earnings before non-cash and financing charges.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is the blended required return across debt and equity capital.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is free cash flow; PV is present value; t is the corporate tax rate.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 (Net Debt) bridges enterprise value and equity value calculations.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notation across a model eliminates ambiguity and makes formulas instantly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Terminology Applied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Value: $18.00 × 50M shares = $900M.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Debt: $120M debt − $20M cash = $100M.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Value: $900M + $100M = $1,000M.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EV/EBITDA: $1,000M ÷ $40M = 25.0×—above peer range of 18–22×.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rich multiple signals overpayment risk; a DCF must confirm or challenge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through EV and EV/EBITDA step-by-step reveals whether a target is fairly priced relative to peers.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M&amp;A Modeling Procedure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follows a disciplined, repeatable sequence of stages.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steps, outputs, and checks must all be completed without skipping.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 model is auditable by any qualified third party.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at each stage prevents errors from compounding downstream.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stage-by-stage process is what separates a boardroom-ready model from a risky guess.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Modeling Procedure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all six stages in sequence; skipping steps creates unauditable 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yrs financials, market data, deal terms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7802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Financials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one-time items for clean baseline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Income Statement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revenue, COGS, operating expenses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2496312"/>
            <a:ext cx="201168" cy="548640"/>
          </a:xfrm>
          <a:prstGeom prst="downArrow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Balance Sheet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working capital using days-outstanding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0118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Cash Flows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FCF from EBIT and working capital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7802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Stress-Test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WACC, run bear/base/bull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Building the Foundation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three to five years of historical income statements, balance sheets, and cash flows.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market data: growth rates, comparable multiples, and discount rates.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deal-specific assumptions: price, financing, synergies, integration costs.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all assumptions on a dedicated inputs tab—never bury hard-coded numbers.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labeling of every assumption is the single best error-prevention habit.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clean, centralized inputs tab is the most important structural decision in any M&amp;A model.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 Building the Model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historicals first—remove litigation, write-downs, and restructuring charges.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revenue via bottom-up or top-down growth; forecast costs as revenue percentages.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working capital schedules using days-outstanding metrics from history.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FCF from EBIT: apply taxes, add D&amp;A, subtract capex and working capital changes.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in acquisition price, goodwill, new debt, and equity to form the pro-forma balance 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each modeling step in sequence ensures every output traces back to a defensible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DCF Valuation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FCF: $60M × 0.75 + $10M − $8M − $4M = $43M.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grow 5% annually through Year 5, reaching $52.3M.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Value (Gordon Growth): $52.3M × 1.03 ÷ 0.06 = $898M.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of Years 1–5 ≈ $185M; discounting terminal value at 9% anchors total valuation.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implied EV to $500M purchase price to assess value creation.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five-step DCF converts operating assumptions into a concrete, comparable valuation for any acquisition target.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Model Output Hierarchy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tiers depend on accuracy of lower-tier inputs; errors cascade upward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 flipV="1">
            <a:off x="1988820" y="1234440"/>
            <a:ext cx="2240280" cy="713232"/>
          </a:xfrm>
          <a:prstGeom prst="trapezoid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988820" y="128930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Accretion / Dilution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4475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EPS impact test for any deal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1508760" y="2039112"/>
            <a:ext cx="3200400" cy="713232"/>
          </a:xfrm>
          <a:prstGeom prst="trapezoid">
            <a:avLst/>
          </a:prstGeom>
          <a:solidFill>
            <a:srgbClr val="B45309">
              <a:alpha val="5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09397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Value (DCF)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of FCF discounted at 9% WACC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1028700" y="2843784"/>
            <a:ext cx="4160520" cy="713232"/>
          </a:xfrm>
          <a:prstGeom prst="trapezoid">
            <a:avLst/>
          </a:prstGeom>
          <a:solidFill>
            <a:srgbClr val="B45309">
              <a:alpha val="7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2898648"/>
            <a:ext cx="4160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Multiples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305409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benchmarked to peer comps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548640" y="3648456"/>
            <a:ext cx="5120640" cy="713232"/>
          </a:xfrm>
          <a:prstGeom prst="trapezoid">
            <a:avLst/>
          </a:prstGeom>
          <a:solidFill>
            <a:srgbClr val="B45309">
              <a:alpha val="9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Estimates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85876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cost synergies quantified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Checks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pro-forma three-statement model, DCF summary, accretion/dilution table, and sensitivity matrix.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must balance—assets equal liabilities plus equity every period.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EV/EBITDA must fall within comparable transaction ranges.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1% WACC shift that destroys deal value must be flagged explicitly.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apply synergies at full run-rate in Year 1—phase them over two to three years.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output checks and honest synergy phasing are what keep a model from misleading decision-makers.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and Pitfalls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models establish intrinsic value; LBO models test private-equity return hurdles.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Accretion/dilution models answer whether a deal immediately helps or hurts EPS.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Front-loading synergies is the most common valuation inflation mistake.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matrices expose fragile deals before boards commit capital.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assumption must be documented so any reviewer can challenge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where models are used—and where analysts routinely err—is as valuable as knowing how to build them.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practice problems in your textbook chapter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4599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2026-07-09T15:31:26Z</dcterms:created>
  <dcterms:modified xsi:type="dcterms:W3CDTF">2026-07-09T15:31:26Z</dcterms:modified>
</cp:coreProperties>
</file>