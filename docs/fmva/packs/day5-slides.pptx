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807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8887968" cy="109728"/>
          </a:xfrm>
          <a:prstGeom prst="rect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Modeling for Mergers and Acquisitions (M&amp;A) and Investment Decisions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85800" y="29718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FMVA Certification Prep: Financial Modeling and Valuation Bootcamp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4343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47091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content is educational material only and does not constitute financial, investment, or trading advice.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agenda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76809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M&amp;A Deal Structuring and Accretion/Dilution Analysis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Synergy Valuation and Purchase Price Allocation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Leveraged Buyout (LBO) Modeling and Return Analysis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Budgeting: NPV, IRR, and Payback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Financing Mix Optimization and Its Impact on Returns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Governance, Audit Trails, and Assumption Documentation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M&amp;A Deal Structuring and Accretion/Dilution Analysis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Accretion/dilution tests whether combined EPS exceeds acquirer's standalone EPS.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Accretion = pro-forma EPS rises; dilution = pro-forma EPS falls post-deal.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Financing mix directly drives the EPS outcome: cash vs. stock matters.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Formula: (Combined Net Income − After-Tax Interest) ÷ Total Shares Outstanding.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and magnitude shape board approval and negotiating strategy.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Accretion/dilution analysis is the first EPS reality check on any proposed acquisition.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Synergy Valuation and Purchase Price Allocation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Synergy NPV must exceed the acquisition premium paid, or value is destroyed.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synergies: headcount cuts, facility consolidation, procurement savings.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carry higher risk and longer realization timelines.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synergy cash flows at a risk-adjusted rate reflecting execution uncertainty.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paid above synergy NPV signals overpayment on day one.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Disciplined synergy valuation prevents acquirers from paying more than the deal is worth.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Accretion/Dilution Build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 is accretive: pro-forma EPS $4.10 vs. standalone $4.00 (+2.5%)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4206240"/>
            <a:ext cx="77724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767840"/>
            <a:ext cx="777240" cy="243840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49352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4300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Acquirer Net Income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46120" y="1280160"/>
            <a:ext cx="777240" cy="48768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1" name="Text 9"/>
          <p:cNvSpPr/>
          <p:nvPr/>
        </p:nvSpPr>
        <p:spPr>
          <a:xfrm>
            <a:off x="3063240" y="100584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01752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Net Income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120640" y="1280160"/>
            <a:ext cx="777240" cy="11430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00584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-18.75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9204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After-Tax Interest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995160" y="1394460"/>
            <a:ext cx="777240" cy="28117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6812280" y="112014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461.25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Pro-Forma Net Income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Leveraged Buyout (LBO) Modeling and Return Analysis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Sponsors use heavy debt to amplify equity returns on a smaller cash outlay.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secured debt: lowest rate, amortizes first, highest repayment priority.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Mezzanine/high-yield debt fills the gap between senior loans and equity.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Target's own free cash flow services and repays acquisition debt over time.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IRR and MOIC measure sponsor returns at exit.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LBO returns hinge on leverage, cash flow quality, and the exit multiple achieved.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Budgeting: NPV, IRR, and Payback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discounts after-tax free cash flows at WACC; positive NPV creates value.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 is the discount rate that sets NPV to zero; accept if IRR exceeds WACC.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measures years to recover initial outlay, ignoring time value of money.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is theoretically superior because it measures absolute dollar value added.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 and NPV can conflict on mutually exclusive projects; NPV wins.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is the gold-standard capital budgeting metric, but IRR and payback add practical context.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Financing Mix Trade-Offs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Financing mix is the most controllable lever in accretion/dilution analysis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011680" y="1234440"/>
            <a:ext cx="5120640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C19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1234440"/>
            <a:ext cx="0" cy="3108960"/>
          </a:xfrm>
          <a:prstGeom prst="line">
            <a:avLst/>
          </a:prstGeom>
          <a:noFill/>
          <a:ln w="11430">
            <a:solidFill>
              <a:srgbClr val="1C19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2788920"/>
            <a:ext cx="5120640" cy="0"/>
          </a:xfrm>
          <a:prstGeom prst="line">
            <a:avLst/>
          </a:prstGeom>
          <a:noFill/>
          <a:ln w="11430">
            <a:solidFill>
              <a:srgbClr val="1C19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40280" y="16002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B45309">
              <a:alpha val="1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2240280" y="1600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All-Cash Deal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dilution but high interest drag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00600" y="16002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B45309">
              <a:alpha val="1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600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Deal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interest but large share count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40280" y="315468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B45309">
              <a:alpha val="1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2240280" y="3154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Blended 50/50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Balances EPS and leverage risk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315468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B45309">
              <a:alpha val="1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3154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Debt-Heavy LBO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leverage, highest IRR risk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439826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Share Dilution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0" y="439826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Share Dilution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" y="1280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Interest Cost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" y="4023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Interest Cost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Financing Mix Optimization and Its Impact on Returns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Debt generates an interest tax shield: Debt × Rate × Tax Rate annually.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little debt sacrifices tax shield value; too much raises financial distress costs.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structure: marginal benefit of debt equals its marginal cost.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leverage amplifies equity returns but compresses financial flexibility.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Distress costs include legal fees, supplier tightening, and management distraction.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optimal financing mix balances tax shield benefits against rising financial distress costs.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Synergy Risk Hierarchy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 are more predictable; revenue synergies require aggressive haircuts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 flipV="1">
            <a:off x="1988820" y="1234440"/>
            <a:ext cx="2240280" cy="713232"/>
          </a:xfrm>
          <a:prstGeom prst="trapezoid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988820" y="1289304"/>
            <a:ext cx="2240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144475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risk; discount 200-400bps above WACC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1508760" y="2039112"/>
            <a:ext cx="3200400" cy="713232"/>
          </a:xfrm>
          <a:prstGeom prst="trapezoid">
            <a:avLst/>
          </a:prstGeom>
          <a:solidFill>
            <a:srgbClr val="B45309">
              <a:alpha val="5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508760" y="2093976"/>
            <a:ext cx="3200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Savings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60720" y="2249424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 risk; volume leverage uncertain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1028700" y="2843784"/>
            <a:ext cx="4160520" cy="713232"/>
          </a:xfrm>
          <a:prstGeom prst="trapezoid">
            <a:avLst/>
          </a:prstGeom>
          <a:solidFill>
            <a:srgbClr val="B45309">
              <a:alpha val="77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" y="2898648"/>
            <a:ext cx="4160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Consolidation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60720" y="3054096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risk; contractually plannable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548640" y="3648456"/>
            <a:ext cx="5120640" cy="713232"/>
          </a:xfrm>
          <a:prstGeom prst="trapezoid">
            <a:avLst/>
          </a:prstGeom>
          <a:solidFill>
            <a:srgbClr val="B45309">
              <a:alpha val="9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703320"/>
            <a:ext cx="51206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Reduction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760720" y="3858768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certain; discount at WACC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Governance, Audit Trails, and Assumption Documentation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Inputs, Calculations, and Outputs sheets for full structural transparency.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hardcoded assumptions live only on the Inputs sheet—no buried constants.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Calculations sheet references Inputs exclusively; no raw numbers in formulas.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sheet pulls final metrics: IRR, MOIC, accretion/dilution.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testing requires changing one cell; every result updates automatically.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Rigorous model governance makes M&amp;A spreadsheets auditable, defensible, and stress-test ready.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751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1488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practice problems in your textbook chapter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459943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2026-07-09T20:43:42Z</dcterms:created>
  <dcterms:modified xsi:type="dcterms:W3CDTF">2026-07-09T20:43:42Z</dcterms:modified>
</cp:coreProperties>
</file>