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807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8887968" cy="109728"/>
          </a:xfrm>
          <a:prstGeom prst="rect">
            <a:avLst/>
          </a:prstGeom>
          <a:solidFill>
            <a:srgbClr val="B45309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1732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Audit and Risk Management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85800" y="29718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FMVA Certification Prep: Financial Modeling and Valuation Bootcamp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43434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47091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content is educational material only and does not constitute financial, investment, or trading advice.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agenda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76809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Definitions: Model, Model Risk, Model Audit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Model Audit Fits: Three Lines of Defence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Notation and the Fundamental Audit Identity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Terminology Applied: DCF Treasury Model Example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Audit Procedure: Inputs Required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Step-by-Step Audit Procedure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Catching a $1,198 NPV Error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Outputs and Final Checks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Use Cases Across Finance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Modelling Mistakes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Sanity Checks Every Auditor Must Apply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Correcting a Rate-Period Mismatch in DCF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Definitions: Model, Model Risk, Model Audit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model maps inputs and assumptions to financial outputs via quantitative logic.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risk arises from fundamental errors (wrong theory) or implementation errors (faulty code/data).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 11-7 and SS3/18 are the key regulatory frameworks governing model risk.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audit is an independent, structured review of conceptual soundness and implementation.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Ambiguous terminology is itself a source of model risk—precise vocabulary is essential.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risk has two distinct regulatory sources—theory errors and implementation errors—and audit exists to identify both.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Model Audit Fits: Three Lines of Defence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line: model developers build and document.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line: independent validation teams challenge and audit.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 line: internal audit verifies the governance framework itself.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Audited models include option pricers, XVA engines, credit risk, and portfolio tools.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 requires separate input, calculation, and output layers for traceability.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audit is a second-line activity that independently challenges first-line model development within a formal governance structure.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Notation and the Fundamental Audit Identity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= f(I): outputs equal the model function applied to inputs.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ε = O_model − O_benchmark quantifies model error against a reference.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(model risk score) = materiality × likelihood of error.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audit procedure ultimately aims to bound or explain ε.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notation prevents miscommunication across audit and development teams.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identity O = f(I) ± ε frames every audit task as an effort to measure and explain the error term ε.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Terminology Applied: DCF Treasury Model Example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 is the Excel DCF workbook; purpose is capital budgeting approval.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includes Rf = 3.2%, ERP = 5.5%, β = 0.80, debt weight, tax rate, and cash flows.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CAPM gives Ke = 7.6%; blended WACC = 5.76%.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input must be traced to a documented, verifiable source.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Materiality tier is assigned based on NPV size relative to firm thresholds.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Applying the model/input/function/output vocabulary to a real DCF makes abstract definitions immediately operational.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Audit Standard Procedure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audit follows this repeatable sequence regardless of model type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11480" y="14630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53619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Definition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208483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 tabs, scenarios, outputs in scope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78024" y="1842516"/>
            <a:ext cx="301752" cy="201168"/>
          </a:xfrm>
          <a:prstGeom prst="rightArrow">
            <a:avLst/>
          </a:prstGeom>
          <a:solidFill>
            <a:srgbClr val="B45309"/>
          </a:solidFill>
          <a:ln/>
        </p:spPr>
      </p:sp>
      <p:sp>
        <p:nvSpPr>
          <p:cNvPr id="11" name="Shape 9"/>
          <p:cNvSpPr/>
          <p:nvPr/>
        </p:nvSpPr>
        <p:spPr>
          <a:xfrm>
            <a:off x="2834640" y="14630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07792" y="153619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834640" y="1737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Review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34640" y="208483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data flows, flag circular refs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01184" y="1842516"/>
            <a:ext cx="301752" cy="201168"/>
          </a:xfrm>
          <a:prstGeom prst="rightArrow">
            <a:avLst/>
          </a:prstGeom>
          <a:solidFill>
            <a:srgbClr val="B45309"/>
          </a:solidFill>
          <a:ln/>
        </p:spPr>
      </p:sp>
      <p:sp>
        <p:nvSpPr>
          <p:cNvPr id="16" name="Shape 14"/>
          <p:cNvSpPr/>
          <p:nvPr/>
        </p:nvSpPr>
        <p:spPr>
          <a:xfrm>
            <a:off x="5257800" y="14630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30952" y="153619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57800" y="1737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 Audit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57800" y="208483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precedents, check hard-coded values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163056" y="2496312"/>
            <a:ext cx="201168" cy="548640"/>
          </a:xfrm>
          <a:prstGeom prst="downArrow">
            <a:avLst/>
          </a:prstGeom>
          <a:solidFill>
            <a:srgbClr val="B45309"/>
          </a:solidFill>
          <a:ln/>
        </p:spPr>
      </p:sp>
      <p:sp>
        <p:nvSpPr>
          <p:cNvPr id="21" name="Shape 19"/>
          <p:cNvSpPr/>
          <p:nvPr/>
        </p:nvSpPr>
        <p:spPr>
          <a:xfrm>
            <a:off x="5257800" y="310896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30952" y="318211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257800" y="33832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 Verify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257800" y="373075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Cross-reference rates, growth inputs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901184" y="3488436"/>
            <a:ext cx="301752" cy="201168"/>
          </a:xfrm>
          <a:prstGeom prst="leftArrow">
            <a:avLst/>
          </a:prstGeom>
          <a:solidFill>
            <a:srgbClr val="B45309"/>
          </a:solidFill>
          <a:ln/>
        </p:spPr>
      </p:sp>
      <p:sp>
        <p:nvSpPr>
          <p:cNvPr id="26" name="Shape 24"/>
          <p:cNvSpPr/>
          <p:nvPr/>
        </p:nvSpPr>
        <p:spPr>
          <a:xfrm>
            <a:off x="2834640" y="310896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07792" y="318211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834640" y="33832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Test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834640" y="373075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output to independent calculation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78024" y="3488436"/>
            <a:ext cx="301752" cy="201168"/>
          </a:xfrm>
          <a:prstGeom prst="leftArrow">
            <a:avLst/>
          </a:prstGeom>
          <a:solidFill>
            <a:srgbClr val="B45309"/>
          </a:solidFill>
          <a:ln/>
        </p:spPr>
      </p:sp>
      <p:sp>
        <p:nvSpPr>
          <p:cNvPr id="31" name="Shape 29"/>
          <p:cNvSpPr/>
          <p:nvPr/>
        </p:nvSpPr>
        <p:spPr>
          <a:xfrm>
            <a:off x="411480" y="310896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" y="318211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11480" y="33832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 Register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11480" y="373075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errors, assign remediation deadline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Audit Procedure: Inputs Required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Obtain the model file, all sheets, named ranges, and linked external files.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model documentation: specification, assumption log, version history.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 source data: market feeds, accounting statements, parameter tables.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prior audit reports or validation notes for continuity.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an independent benchmark calculation before testing begins.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complete intake of model files, documentation, data, and a benchmark is the non-negotiable starting point for any audit.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Step-by-Step Audit Procedure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definition: agree with model owner on tabs, scenarios, and outputs in scope.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 review: map data flows; flag circular references, merged cells, hidden rows.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 audit: trace precedents and dependents; eliminate hard-coded values.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 verification: cross-reference every parameter to its documented source.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testing: apply extreme inputs and confirm economically sensible model responses.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repeatable six-step sequence—scope, structure, formulas, assumptions, recalculation, stress—ensures no audit layer is skipped.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Catching a $1,198 NPV Error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claimed NPV = $1,842 on a three-year project with 12% WACC.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PV recalculation: Year 1 $714, Year 2 $717, Year 3 $712 = $2,144.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NPV = $2,144 − $1,500 initial investment = $643.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source: model omitted the initial investment subtraction entirely.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 audit (Step 3) pinpointed the exact cell causing the $1,198 overstatement.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recalculation of every intermediate subtotal—not just the final cell—is what exposes material errors in practice.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Lines of Defence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Independence increases up the pyramid; model audit sits at second line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 flipV="1">
            <a:off x="1828800" y="1234440"/>
            <a:ext cx="2560320" cy="713232"/>
          </a:xfrm>
          <a:prstGeom prst="trapezoid">
            <a:avLst/>
          </a:prstGeom>
          <a:solidFill>
            <a:srgbClr val="B45309">
              <a:alpha val="4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828800" y="1289304"/>
            <a:ext cx="2560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Audit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0" y="144475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 line: checks governance framework works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1188720" y="2039112"/>
            <a:ext cx="3840480" cy="713232"/>
          </a:xfrm>
          <a:prstGeom prst="trapezoid">
            <a:avLst/>
          </a:prstGeom>
          <a:solidFill>
            <a:srgbClr val="B45309">
              <a:alpha val="67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1188720" y="2093976"/>
            <a:ext cx="3840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Audit Team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760720" y="2249424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line: independent challenge of models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548640" y="2843784"/>
            <a:ext cx="5120640" cy="713232"/>
          </a:xfrm>
          <a:prstGeom prst="trapezoid">
            <a:avLst/>
          </a:prstGeom>
          <a:solidFill>
            <a:srgbClr val="B45309">
              <a:alpha val="9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898648"/>
            <a:ext cx="51206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Developer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760720" y="3054096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line: builds, documents, owns model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Outputs and Final Checks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a findings log: each error's location, severity, and recommended fix.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 a corrected model file or formal sign-off if no issues are found.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a written audit opinion on whether the model is fit for purpose.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all findings are resolved or formally accepted before release.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the corrected model reproduces auditor benchmark figures exactly.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audit is only complete when findings are resolved, the corrected model matches the benchmark, and a written opinion is issued.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Use Cases Across Finance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markets: option pricing, Greeks, volatility surfaces, XVA/CVA engines.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risk: PD/LGD/EAD for regulatory capital, IFRS 9 impairment, Merton models.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finance: DCF valuation, WACC, scenario planning, treasury management.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optimisation, real options, and actuarial dynamic financial analysis.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models—regardless of complexity—ultimately live in Microsoft Excel.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audit applies across every finance domain because quantitative models drive decisions in capital markets, credit, and corporate finance alike.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Modelling Mistakes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Hard-coded values buried in formulas instead of referenced input cells.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Unresolved circular references, especially dangerous in XVA or working capital models.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Mixing annual and quarterly compounding, or conflicting day-count conventions.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Accepting base-case outputs without stress-testing adverse scenarios.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Inconsistent sign conventions for cash inflows and outflows across linked sheets.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most damaging model errors are structural habits—hard-coding, mixed conventions, and skipped stress tests—not one-off arithmetic slips.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WACC Audit Error Impact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sourcing error (beta), not formula error, caused £1.4M NPV difference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4206240"/>
            <a:ext cx="7772400" cy="0"/>
          </a:xfrm>
          <a:prstGeom prst="line">
            <a:avLst/>
          </a:prstGeom>
          <a:noFill/>
          <a:ln w="12700">
            <a:solidFill>
              <a:srgbClr val="1C191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84020" y="1364044"/>
            <a:ext cx="777240" cy="28421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1501140" y="1089724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5.76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45542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WACC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183380" y="1280160"/>
            <a:ext cx="777240" cy="292608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4000500" y="1005840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5.93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95478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 WACC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682740" y="3515429"/>
            <a:ext cx="777240" cy="690811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6499860" y="3241109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5414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NPV Reduction £M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Sanity Checks Every Auditor Must Apply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Order-of-magnitude test: compare output to industry benchmarks for plausibility.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Limiting-case test: zero growth should collapse the model to a perpetuity formula.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check: higher discount rates must produce lower present values.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Sum-of-parts: disaggregated outputs must reconcile to the consolidated total.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 table: vary WACC ±1% and confirm economically intuitive direction and magnitude.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quick sanity checks—magnitude, limits, signs, reconciliation, sensitivity—catch the majority of errors before a model reaches decision-makers.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Correcting a Rate-Period Mismatch in DCF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 applied annual WACC of 8% using quarterly discount factors—a period mismatch.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 approach: annual cash flows require annual discount factor 1/(1.08)^n.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FCF₅ = £165k × 1.02 = £168.3k; terminal value = £168.3k / 0.06 = £2,805k.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year's PV recalculated with correct annual factors, then summed.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Mismatch systematically overstated PVs, inflating the project valuation.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confirm that the discount rate's compounding frequency exactly matches the cash flow period—mismatches systematically distort every present value.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480560"/>
            <a:ext cx="9144000" cy="66751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1488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practice problems in your textbook chapter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85800" y="459943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2026-07-09T15:37:19Z</dcterms:created>
  <dcterms:modified xsi:type="dcterms:W3CDTF">2026-07-09T15:37:19Z</dcterms:modified>
</cp:coreProperties>
</file>