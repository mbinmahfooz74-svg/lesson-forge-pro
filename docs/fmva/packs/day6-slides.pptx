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 and Risk Management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Spreadsheet Risk: Error Taxonomy and Prevalence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Model Audit: The Five-Pass Review Protocol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 Quantification: Sensitivity, Scenario, and Monte Carlo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Management: Controls, Governance, and Validation Frameworks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Documentation Standards: Logs, Dictionaries, and User Guides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Modelers' Manifesto: Epistemic Humility and Ethics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Spreadsheet Risk: Error Taxonomy and Prevalence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88%+ of large spreadsheets contain at least one material error (Panko).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error prevalence as a baseline risk assumption, not an anomaly.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error classes differ in detection difficulty and financial consequence.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errors include typos, mis-keyed numbers, and hard-coded formula values.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Hard-coded constants inside formulas are the most common mechanical error type.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 errors are statistically inevitable, so every model review must begin with that assumption built in.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Model Audit: The Five-Pass Review Protocol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sequential passes isolate distinct failure modes; skipping any defeats the system.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1: Map workbook architecture—Inputs, Calculations, and Outputs must stay separated.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Trace Precedents and Dependents to detect backward data flows immediately.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subsequent pass targets a progressively deeper layer of model logic.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is repeatable and defensible across DCF, LBO, and complex models.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disciplined five-pass sequence ensures errors cannot hide behind model complexity.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Taxonomy by Detection Difficulty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= easiest to detect; top = hardest; all four classes require structured audit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 flipV="1">
            <a:off x="1988820" y="1234440"/>
            <a:ext cx="2240280" cy="713232"/>
          </a:xfrm>
          <a:prstGeom prst="trapezoid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988820" y="1289304"/>
            <a:ext cx="2240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Errors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4447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links across sheets or workbooks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508760" y="2039112"/>
            <a:ext cx="3200400" cy="713232"/>
          </a:xfrm>
          <a:prstGeom prst="trapezoid">
            <a:avLst/>
          </a:prstGeom>
          <a:solidFill>
            <a:srgbClr val="B45309">
              <a:alpha val="5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2093976"/>
            <a:ext cx="3200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Omission Errors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line items, no broken formula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1028700" y="2843784"/>
            <a:ext cx="4160520" cy="713232"/>
          </a:xfrm>
          <a:prstGeom prst="trapezoid">
            <a:avLst/>
          </a:prstGeom>
          <a:solidFill>
            <a:srgbClr val="B45309">
              <a:alpha val="77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" y="2898648"/>
            <a:ext cx="4160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Errors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305409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formula structure, plausible output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548640" y="3648456"/>
            <a:ext cx="5120640" cy="713232"/>
          </a:xfrm>
          <a:prstGeom prst="trapezoid">
            <a:avLst/>
          </a:prstGeom>
          <a:solidFill>
            <a:srgbClr val="B45309">
              <a:alpha val="9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703320"/>
            <a:ext cx="5120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Errors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385876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Typos and hard-coded values, most visible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 Quantification: Sensitivity, Scenario, and Monte Carlo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 is measurable—rank and govern it numerically, not just qualitatively.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analysis moves one input at a time; results visualized in tornado charts.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coefficient = (ΔOutput/Output_base) ÷ (ΔInput/Input_base) × 100%.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analysis stresses multiple inputs simultaneously for coherent narratives.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 simulation yields a full probability distribution of output values.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Progressing from sensitivity through Monte Carlo gives an increasingly complete picture of assumption-driven uncertainty.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Management: Controls, Governance, and Validation Frameworks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Flawed models in high-stakes decisions can produce losses exceeding model build costs.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 11-7 guidance organizes MRM around three non-collapsible governance gates.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development team owns logic, assumptions, and documentation exclusively.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validation must be performed by reviewers with zero construction involvement.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monitoring is a continuous post-deployment obligation, not a one-time check.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Separating development, validation, and monitoring is the single highest-impact structural control in model risk management.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Probability: Hard-Coded vs. Single Input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P(error) = 1−(0.98)^n; centralising inputs cuts error risk tenfold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08860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212598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8026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Hard-Coded Cells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057900" y="3934047"/>
            <a:ext cx="777240" cy="272193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5875020" y="3659727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82930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Input Cell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Documentation Standards: Logs, Dictionaries, and User Guides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documentation, even a flawless model becomes unauditable and indefensible.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 log rows must capture: name, value, source, date, owner, and sensitivity class.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classification directs reviewers to Key Risk Drivers for stress-testing.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Completeness Score tracks the ratio of documented to total assumptions.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dictionaries and user guides ensure reproducibility across analysts and audits.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documentation transforms a financial model from a black box into an auditable, transferable professional asset.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Five-Pass Model Audit Protocol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pass isolates a distinct failure mode; skipping passes defeats systematic logic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1: 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workbook zones before touching formulas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7802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0779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2: Inputs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all assumptions are centralised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3095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3: Logic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formula mechanics at boundary cases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2496312"/>
            <a:ext cx="201168" cy="548640"/>
          </a:xfrm>
          <a:prstGeom prst="down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525780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3095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4: Omissions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completeness against standard checklist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0118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5: Interfaces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all cross-sheet and external links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Modelers' Manifesto: Epistemic Humility and Ethics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are analogies built on contestable assumptions—not physical laws.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Derman and Wilmott (2009): every output requires explicit uncertainty bounds.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point estimate with no range is a professional failure, not precision.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epistemic voices must accompany any model output presented to decision-makers.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obligation: communicate model limitations as clearly as model conclusions.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Epistemic humility—acknowledging what a model cannot know—is both a professional standard and an ethical requirement.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2026-07-09T20:51:04Z</dcterms:created>
  <dcterms:modified xsi:type="dcterms:W3CDTF">2026-07-09T20:51:04Z</dcterms:modified>
</cp:coreProperties>
</file>