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5148072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" name="Shape 1"/>
          <p:cNvSpPr/>
          <p:nvPr/>
        </p:nvSpPr>
        <p:spPr>
          <a:xfrm>
            <a:off x="256032" y="0"/>
            <a:ext cx="8887968" cy="109728"/>
          </a:xfrm>
          <a:prstGeom prst="rect">
            <a:avLst/>
          </a:prstGeom>
          <a:solidFill>
            <a:srgbClr val="B45309">
              <a:alpha val="4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05156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7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85800" y="1417320"/>
            <a:ext cx="7863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Studies and Final Project Presentations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685800" y="29718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FMVA Certification Prep: Financial Modeling and Valuation Bootcamp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434340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Forge Pro (owner)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85800" y="47091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content is educational material only and does not constitute financial, investment, or trading advice.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02336"/>
            <a:ext cx="82296" cy="329184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Today's agenda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832104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4864608"/>
            <a:ext cx="8321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Forge Pro (owner) — This content is educational material only and does not constitute financial, investment, or trading advice.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731520" y="1234440"/>
            <a:ext cx="768096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Architecting a Case-Study Model: Inputs, Calculations, and Outputs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DCF Valuation in Practice: Free Cash Flow Forecasting and Terminal Value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Scenario and Sensitivity Analysis: Stress-Testing Model Outputs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Transaction Modeling: M&amp;A Accretion/Dilution and LBO Returns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Audit, Error-Proofing, and Presentation of Results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Project Integration: Building and Defending a Full Valuation Case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02336"/>
            <a:ext cx="82296" cy="329184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Architecting a Case-Study Model: Inputs, Calculations, and Outputs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832104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4864608"/>
            <a:ext cx="8321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Forge Pro (owner) — This content is educational material only and does not constitute financial, investment, or trading advice.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731520" y="1188720"/>
            <a:ext cx="76809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three core tabs: Input, Calculation, and Output.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Hard-coded values live exclusively on the Input tab.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Calculation tab references inputs only — no raw numbers allowed.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tab presents results clearly for stakeholders and auditors.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Transparency is structural, not an afterthought.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4041648"/>
            <a:ext cx="7680960" cy="566928"/>
          </a:xfrm>
          <a:prstGeom prst="roundRect">
            <a:avLst>
              <a:gd name="adj" fmla="val 12903"/>
            </a:avLst>
          </a:prstGeom>
          <a:solidFill>
            <a:srgbClr val="B45309">
              <a:alpha val="12000"/>
            </a:srgbClr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4087368"/>
            <a:ext cx="7406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  </a:t>
            </a:r>
            <a:pPr indent="0" marL="0">
              <a:buNone/>
            </a:pPr>
            <a:r>
              <a:rPr lang="en-US" sz="115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three-tab architecture forces traceability from every assumption to every output.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02336"/>
            <a:ext cx="82296" cy="329184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DCF Valuation in Practice: Free Cash Flow Forecasting and Terminal Value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832104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4864608"/>
            <a:ext cx="8321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Forge Pro (owner) — This content is educational material only and does not constitute financial, investment, or trading advice.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731520" y="1188720"/>
            <a:ext cx="76809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UFCF = EBIT × (1 – t) + D&amp;A – ΔNWC – Capex.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NOPAT isolates operating profit after tax, before financing effects.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back D&amp;A — it is a non-cash charge reducing reported profit.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Rising receivables and inventory consume cash; subtract NWC increases.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value typically drives the majority of total DCF value.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4041648"/>
            <a:ext cx="7680960" cy="566928"/>
          </a:xfrm>
          <a:prstGeom prst="roundRect">
            <a:avLst>
              <a:gd name="adj" fmla="val 12903"/>
            </a:avLst>
          </a:prstGeom>
          <a:solidFill>
            <a:srgbClr val="B45309">
              <a:alpha val="12000"/>
            </a:srgbClr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4087368"/>
            <a:ext cx="7406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  </a:t>
            </a:r>
            <a:pPr indent="0" marL="0">
              <a:buNone/>
            </a:pPr>
            <a:r>
              <a:rPr lang="en-US" sz="115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DCF is a structured argument about future cash generation, built layer by layer from EBIT to equity value.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384048"/>
            <a:ext cx="82296" cy="310896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Three-Tab Model Architecture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66928" y="4681728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number traces from Input through Calculation to Output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4919472"/>
            <a:ext cx="8321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Forge Pro (owner) — This content is educational material only and does not constitute financial, investment, or trading advice.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411480" y="2194560"/>
            <a:ext cx="1771650" cy="960120"/>
          </a:xfrm>
          <a:prstGeom prst="roundRect">
            <a:avLst>
              <a:gd name="adj" fmla="val 7619"/>
            </a:avLst>
          </a:prstGeom>
          <a:solidFill>
            <a:srgbClr val="F5F5F4"/>
          </a:solidFill>
          <a:ln w="15240">
            <a:solidFill>
              <a:srgbClr val="B4530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4632" y="2267712"/>
            <a:ext cx="310896" cy="274320"/>
          </a:xfrm>
          <a:prstGeom prst="rect">
            <a:avLst/>
          </a:prstGeom>
          <a:solidFill>
            <a:srgbClr val="B4530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2468880"/>
            <a:ext cx="177165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 Tab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11480" y="2816352"/>
            <a:ext cx="177165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 name, version, date, analyst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237994" y="2574036"/>
            <a:ext cx="301752" cy="201168"/>
          </a:xfrm>
          <a:prstGeom prst="rightArrow">
            <a:avLst/>
          </a:prstGeom>
          <a:solidFill>
            <a:srgbClr val="B45309"/>
          </a:solidFill>
          <a:ln/>
        </p:spPr>
      </p:sp>
      <p:sp>
        <p:nvSpPr>
          <p:cNvPr id="11" name="Shape 9"/>
          <p:cNvSpPr/>
          <p:nvPr/>
        </p:nvSpPr>
        <p:spPr>
          <a:xfrm>
            <a:off x="2594610" y="2194560"/>
            <a:ext cx="1771650" cy="960120"/>
          </a:xfrm>
          <a:prstGeom prst="roundRect">
            <a:avLst>
              <a:gd name="adj" fmla="val 7619"/>
            </a:avLst>
          </a:prstGeom>
          <a:solidFill>
            <a:srgbClr val="F5F5F4"/>
          </a:solidFill>
          <a:ln w="15240">
            <a:solidFill>
              <a:srgbClr val="B4530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667762" y="2267712"/>
            <a:ext cx="310896" cy="274320"/>
          </a:xfrm>
          <a:prstGeom prst="rect">
            <a:avLst/>
          </a:prstGeom>
          <a:solidFill>
            <a:srgbClr val="B4530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594610" y="2468880"/>
            <a:ext cx="177165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Tab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594610" y="2816352"/>
            <a:ext cx="177165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hard-coded blue-font assumptions only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421124" y="2574036"/>
            <a:ext cx="301752" cy="201168"/>
          </a:xfrm>
          <a:prstGeom prst="rightArrow">
            <a:avLst/>
          </a:prstGeom>
          <a:solidFill>
            <a:srgbClr val="B45309"/>
          </a:solidFill>
          <a:ln/>
        </p:spPr>
      </p:sp>
      <p:sp>
        <p:nvSpPr>
          <p:cNvPr id="16" name="Shape 14"/>
          <p:cNvSpPr/>
          <p:nvPr/>
        </p:nvSpPr>
        <p:spPr>
          <a:xfrm>
            <a:off x="4777740" y="2194560"/>
            <a:ext cx="1771650" cy="960120"/>
          </a:xfrm>
          <a:prstGeom prst="roundRect">
            <a:avLst>
              <a:gd name="adj" fmla="val 7619"/>
            </a:avLst>
          </a:prstGeom>
          <a:solidFill>
            <a:srgbClr val="F5F5F4"/>
          </a:solidFill>
          <a:ln w="15240">
            <a:solidFill>
              <a:srgbClr val="B4530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50892" y="2267712"/>
            <a:ext cx="310896" cy="274320"/>
          </a:xfrm>
          <a:prstGeom prst="rect">
            <a:avLst/>
          </a:prstGeom>
          <a:solidFill>
            <a:srgbClr val="B4530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777740" y="2468880"/>
            <a:ext cx="177165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Calculation Tab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777740" y="2816352"/>
            <a:ext cx="177165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Formulas link back to Input tab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604254" y="2574036"/>
            <a:ext cx="301752" cy="201168"/>
          </a:xfrm>
          <a:prstGeom prst="rightArrow">
            <a:avLst/>
          </a:prstGeom>
          <a:solidFill>
            <a:srgbClr val="B45309"/>
          </a:solidFill>
          <a:ln/>
        </p:spPr>
      </p:sp>
      <p:sp>
        <p:nvSpPr>
          <p:cNvPr id="21" name="Shape 19"/>
          <p:cNvSpPr/>
          <p:nvPr/>
        </p:nvSpPr>
        <p:spPr>
          <a:xfrm>
            <a:off x="6960870" y="2194560"/>
            <a:ext cx="1771650" cy="960120"/>
          </a:xfrm>
          <a:prstGeom prst="roundRect">
            <a:avLst>
              <a:gd name="adj" fmla="val 7619"/>
            </a:avLst>
          </a:prstGeom>
          <a:solidFill>
            <a:srgbClr val="F5F5F4"/>
          </a:solidFill>
          <a:ln w="15240">
            <a:solidFill>
              <a:srgbClr val="B4530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034022" y="2267712"/>
            <a:ext cx="310896" cy="274320"/>
          </a:xfrm>
          <a:prstGeom prst="rect">
            <a:avLst/>
          </a:prstGeom>
          <a:solidFill>
            <a:srgbClr val="B4530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960870" y="2468880"/>
            <a:ext cx="177165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Tab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960870" y="2816352"/>
            <a:ext cx="177165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Display only, no new calculations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02336"/>
            <a:ext cx="82296" cy="329184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Scenario and Sensitivity Analysis: Stress-Testing Model Outputs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832104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4864608"/>
            <a:ext cx="8321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Forge Pro (owner) — This content is educational material only and does not constitute financial, investment, or trading advice.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731520" y="1188720"/>
            <a:ext cx="76809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Identify two or three key value drivers before building scenarios.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Bear, Base, and Bull cases with explicit numeric assumptions.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 narrative logic beside each scenario, not just numbers.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Sensitivity tables reveal which single assumption carries the most risk.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Static models give one answer; scenario models map the full outcome range.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4041648"/>
            <a:ext cx="7680960" cy="566928"/>
          </a:xfrm>
          <a:prstGeom prst="roundRect">
            <a:avLst>
              <a:gd name="adj" fmla="val 12903"/>
            </a:avLst>
          </a:prstGeom>
          <a:solidFill>
            <a:srgbClr val="B45309">
              <a:alpha val="12000"/>
            </a:srgbClr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4087368"/>
            <a:ext cx="7406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  </a:t>
            </a:r>
            <a:pPr indent="0" marL="0">
              <a:buNone/>
            </a:pPr>
            <a:r>
              <a:rPr lang="en-US" sz="115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Scenario and sensitivity analysis converts a single-point model into a genuine decision-support tool.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02336"/>
            <a:ext cx="82296" cy="329184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Transaction Modeling: M&amp;A Accretion/Dilution and LBO Returns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832104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4864608"/>
            <a:ext cx="8321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Forge Pro (owner) — This content is educational material only and does not constitute financial, investment, or trading advice.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731520" y="1188720"/>
            <a:ext cx="76809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Accretion/dilution tests whether combined EPS exceeds standalone acquirer EPS.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 net incomes, add after-tax synergies, subtract incremental interest.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Divide adjusted combined earnings by new fully diluted share count.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LBO models evaluate financial sponsor returns via IRR and cash-on-cash multiple.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frameworks answer distinct questions: strategic fit vs. investor return.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4041648"/>
            <a:ext cx="7680960" cy="566928"/>
          </a:xfrm>
          <a:prstGeom prst="roundRect">
            <a:avLst>
              <a:gd name="adj" fmla="val 12903"/>
            </a:avLst>
          </a:prstGeom>
          <a:solidFill>
            <a:srgbClr val="B45309">
              <a:alpha val="12000"/>
            </a:srgbClr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4087368"/>
            <a:ext cx="7406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  </a:t>
            </a:r>
            <a:pPr indent="0" marL="0">
              <a:buNone/>
            </a:pPr>
            <a:r>
              <a:rPr lang="en-US" sz="115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Mastering accretion/dilution and LBO models gives analysts a complete toolkit for evaluating any corporate transaction.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384048"/>
            <a:ext cx="82296" cy="310896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SaaS 5-Year Revenue Forecast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66928" y="4681728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growth-rate input drives all five years via compounding formula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4919472"/>
            <a:ext cx="8321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Forge Pro (owner) — This content is educational material only and does not constitute financial, investment, or trading advice.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85800" y="4206240"/>
            <a:ext cx="7772400" cy="0"/>
          </a:xfrm>
          <a:prstGeom prst="line">
            <a:avLst/>
          </a:prstGeom>
          <a:noFill/>
          <a:ln w="12700">
            <a:solidFill>
              <a:srgbClr val="1C191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84148" y="2533244"/>
            <a:ext cx="777240" cy="1672996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8" name="Text 6"/>
          <p:cNvSpPr/>
          <p:nvPr/>
        </p:nvSpPr>
        <p:spPr>
          <a:xfrm>
            <a:off x="1001268" y="2258924"/>
            <a:ext cx="1143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1440000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955548" y="4315968"/>
            <a:ext cx="1234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1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2683764" y="2282295"/>
            <a:ext cx="777240" cy="1923945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11" name="Text 9"/>
          <p:cNvSpPr/>
          <p:nvPr/>
        </p:nvSpPr>
        <p:spPr>
          <a:xfrm>
            <a:off x="2500884" y="2007975"/>
            <a:ext cx="1143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1656000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455164" y="4315968"/>
            <a:ext cx="1234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2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183380" y="1993703"/>
            <a:ext cx="777240" cy="2212537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14" name="Text 12"/>
          <p:cNvSpPr/>
          <p:nvPr/>
        </p:nvSpPr>
        <p:spPr>
          <a:xfrm>
            <a:off x="4000500" y="1719383"/>
            <a:ext cx="1143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1904400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954780" y="4315968"/>
            <a:ext cx="1234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3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682996" y="1661823"/>
            <a:ext cx="777240" cy="2544417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17" name="Text 15"/>
          <p:cNvSpPr/>
          <p:nvPr/>
        </p:nvSpPr>
        <p:spPr>
          <a:xfrm>
            <a:off x="5500116" y="1387503"/>
            <a:ext cx="1143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2190060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454396" y="4315968"/>
            <a:ext cx="1234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4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7182612" y="1280160"/>
            <a:ext cx="777240" cy="292608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20" name="Text 18"/>
          <p:cNvSpPr/>
          <p:nvPr/>
        </p:nvSpPr>
        <p:spPr>
          <a:xfrm>
            <a:off x="6999732" y="1005840"/>
            <a:ext cx="1143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2518569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954012" y="4315968"/>
            <a:ext cx="1234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02336"/>
            <a:ext cx="82296" cy="329184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Audit, Error-Proofing, and Presentation of Results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832104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4864608"/>
            <a:ext cx="8321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Forge Pro (owner) — This content is educational material only and does not constitute financial, investment, or trading advice.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731520" y="1188720"/>
            <a:ext cx="76809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 90% of large spreadsheets contain at least one material error.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 balance sheet check cell: Assets – (Liabilities + Equity) = 0.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conditional formatting — red for imbalance, green for zero.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 audit flags where they cannot be scrolled off-screen.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a full audit routine before every high-stakes presentation.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4041648"/>
            <a:ext cx="7680960" cy="566928"/>
          </a:xfrm>
          <a:prstGeom prst="roundRect">
            <a:avLst>
              <a:gd name="adj" fmla="val 12903"/>
            </a:avLst>
          </a:prstGeom>
          <a:solidFill>
            <a:srgbClr val="B45309">
              <a:alpha val="12000"/>
            </a:srgbClr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4087368"/>
            <a:ext cx="7406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  </a:t>
            </a:r>
            <a:pPr indent="0" marL="0">
              <a:buNone/>
            </a:pPr>
            <a:r>
              <a:rPr lang="en-US" sz="115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single broken formula can invalidate an entire valuation, making a disciplined audit routine non-negotiable.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384048"/>
            <a:ext cx="82296" cy="310896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DCF Free Cash Flow Build-Up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66928" y="4681728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layer adjusts EBIT toward true cash generation for valuation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4919472"/>
            <a:ext cx="8321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Forge Pro (owner) — This content is educational material only and does not constitute financial, investment, or trading advice.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 flipV="1">
            <a:off x="2084832" y="1234440"/>
            <a:ext cx="2048256" cy="658368"/>
          </a:xfrm>
          <a:prstGeom prst="trapezoid">
            <a:avLst/>
          </a:prstGeom>
          <a:solidFill>
            <a:srgbClr val="B45309">
              <a:alpha val="40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2084832" y="1289304"/>
            <a:ext cx="204825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EBIT × (1–t)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760720" y="1417320"/>
            <a:ext cx="2926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operating profit after tax baseline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V="1">
            <a:off x="1700784" y="1984248"/>
            <a:ext cx="2816352" cy="658368"/>
          </a:xfrm>
          <a:prstGeom prst="trapezoid">
            <a:avLst/>
          </a:prstGeom>
          <a:solidFill>
            <a:srgbClr val="B45309">
              <a:alpha val="54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1700784" y="2039112"/>
            <a:ext cx="281635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D&amp;A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760720" y="2167128"/>
            <a:ext cx="2926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Non-cash charge added back to NOPAT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 flipV="1">
            <a:off x="1316736" y="2734056"/>
            <a:ext cx="3584448" cy="658368"/>
          </a:xfrm>
          <a:prstGeom prst="trapezoid">
            <a:avLst/>
          </a:prstGeom>
          <a:solidFill>
            <a:srgbClr val="B45309">
              <a:alpha val="67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1316736" y="2788920"/>
            <a:ext cx="358444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Subtract ΔNWC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760720" y="2916936"/>
            <a:ext cx="2926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Cash consumed by working capital growth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V="1">
            <a:off x="932688" y="3483864"/>
            <a:ext cx="4352544" cy="658368"/>
          </a:xfrm>
          <a:prstGeom prst="trapezoid">
            <a:avLst/>
          </a:prstGeom>
          <a:solidFill>
            <a:srgbClr val="B45309">
              <a:alpha val="81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932688" y="3538728"/>
            <a:ext cx="43525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Subtract Capex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760720" y="3666744"/>
            <a:ext cx="2926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cash outflows for asset investment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 flipV="1">
            <a:off x="548640" y="4233672"/>
            <a:ext cx="5120640" cy="658368"/>
          </a:xfrm>
          <a:prstGeom prst="trapezoid">
            <a:avLst/>
          </a:prstGeom>
          <a:solidFill>
            <a:srgbClr val="B45309">
              <a:alpha val="95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548640" y="4288536"/>
            <a:ext cx="51206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UFCF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760720" y="4416552"/>
            <a:ext cx="2926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Cash available to all capital providers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02336"/>
            <a:ext cx="82296" cy="329184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Project Integration: Building and Defending a Full Valuation Case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832104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4864608"/>
            <a:ext cx="8321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Forge Pro (owner) — This content is educational material only and does not constitute financial, investment, or trading advice.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731520" y="1188720"/>
            <a:ext cx="76809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a public company with three or more years of audited financials.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Pull income statement, balance sheet, and cash flow from SEC EDGAR.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Historical data anchors every forecast assumption with empirical evidence.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Reconcile conflicts across valuation frameworks honestly and explicitly.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Defend conclusions with confidence earned through rigorous stress-testing.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4041648"/>
            <a:ext cx="7680960" cy="566928"/>
          </a:xfrm>
          <a:prstGeom prst="roundRect">
            <a:avLst>
              <a:gd name="adj" fmla="val 12903"/>
            </a:avLst>
          </a:prstGeom>
          <a:solidFill>
            <a:srgbClr val="B45309">
              <a:alpha val="12000"/>
            </a:srgbClr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4087368"/>
            <a:ext cx="7406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  </a:t>
            </a:r>
            <a:pPr indent="0" marL="0">
              <a:buNone/>
            </a:pPr>
            <a:r>
              <a:rPr lang="en-US" sz="115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defensible valuation case moves fluidly from historical data through multiple frameworks to a clearly communicated, stress-tested conclusion.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480560"/>
            <a:ext cx="9144000" cy="667512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21488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Next: practice problems in your textbook chapter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85800" y="4599432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Forge Pro (owner) — This content is educational material only and does not constitute financial, investment, or trading advice.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2026-07-09T20:58:15Z</dcterms:created>
  <dcterms:modified xsi:type="dcterms:W3CDTF">2026-07-09T20:58:15Z</dcterms:modified>
</cp:coreProperties>
</file>