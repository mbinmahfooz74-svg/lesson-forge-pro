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80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and Final Project Presentations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FMVA Certification Prep: Financial Modeling and Valuation Bootcamp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content is educational material only and does not constitute financial, investment, or trading advice.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and vocabulary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Fits in Practice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Terminology Applied to a Mini Scenario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procedure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and vocabulary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modeling sits at the intersection of accounting, finance, and analytical reasoning. Before you can b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 model is a structured, quantitative representation of a business, project, or transaction, built t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you must own: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— an input value or relationship accepted as true for modeling purposes (e.g., revenue growth rate 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— a variable whose change meaningfully moves an output (e.g., unit volume is a revenue driver).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Fits in Practice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models appear across virtually every finance function: business and project valuation, M&amp;A transacti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Model Standard Procedure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steps in order; each output feeds the next calculation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margins, WACC, growth rates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7802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Income Statement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× growth, apply margin to get EBIT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0118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Free Cash Flow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NOPAT + depreciation − capex ± NWC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2496312"/>
            <a:ext cx="201168" cy="548640"/>
          </a:xfrm>
          <a:prstGeom prst="downArrow">
            <a:avLst/>
          </a:prstGeom>
          <a:solidFill>
            <a:srgbClr val="B45309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Cash Flows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each FCF by (1+WACC)^t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0118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Terminal Value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Gordon Growth or exit-multiple approach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7802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Equity Value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minus net debt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notation you will see in case studies: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= Σ [FCFt / (1 + WACC)^t]  for t = 1 to n,  minus Initial Investment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Terminology Applied to a Mini Scenario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A small logistics firm is evaluating a new delivery route requiring a $200,000 upfront investment. T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Identify the assumption.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 in cash flows (from $70K to $80K to $90K) and the 10% WACC are the model's assumptions. If either c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Identify the drivers.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Example: Cash Flow Present Values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PV $197,370 minus $200,000 investment yields NPV of −$2,630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4206240"/>
            <a:ext cx="77724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4148" y="3275220"/>
            <a:ext cx="777240" cy="9310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001268" y="300090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63636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5548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FCF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83764" y="3238936"/>
            <a:ext cx="777240" cy="9673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2500884" y="2964616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66116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55164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FCF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83380" y="3216962"/>
            <a:ext cx="777240" cy="98927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000500" y="294264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67618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5478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FCF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82996" y="1318638"/>
            <a:ext cx="777240" cy="288760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5500116" y="104431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197370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54396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PV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82612" y="1280160"/>
            <a:ext cx="777240" cy="2926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999732" y="100584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54012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Investment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procedure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well-built financial model follows a repeatable, auditable procedure. Mastering that procedure—inputs, s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single formula is written, gather and document every assumption explicitly. Best practice separates i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discounted cash flow (DCF) valuation, the standard inputs are: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base and growth rates (historical actuals plus forward assumptions)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(EBIT or EBITDA margin, sourced from management guidance or industry benchmarks)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 Vocabulary Hierarchy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underpin everything; outputs are only as reliable as inputs below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 flipV="1">
            <a:off x="2084832" y="1234440"/>
            <a:ext cx="2048256" cy="658368"/>
          </a:xfrm>
          <a:prstGeom prst="trapezoid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289304"/>
            <a:ext cx="20482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(NPV/Value)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41732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decision metric the model produces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V="1">
            <a:off x="1700784" y="1984248"/>
            <a:ext cx="2816352" cy="658368"/>
          </a:xfrm>
          <a:prstGeom prst="trapezoid">
            <a:avLst/>
          </a:prstGeom>
          <a:solidFill>
            <a:srgbClr val="B45309">
              <a:alpha val="5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00784" y="2039112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16712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upside, downside coherent assumption sets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1316736" y="2734056"/>
            <a:ext cx="3584448" cy="658368"/>
          </a:xfrm>
          <a:prstGeom prst="trapezoid">
            <a:avLst/>
          </a:prstGeom>
          <a:solidFill>
            <a:srgbClr val="B45309">
              <a:alpha val="6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16736" y="2788920"/>
            <a:ext cx="3584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91693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one driver's effect on output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V="1">
            <a:off x="932688" y="3483864"/>
            <a:ext cx="4352544" cy="658368"/>
          </a:xfrm>
          <a:prstGeom prst="trapezoid">
            <a:avLst/>
          </a:prstGeom>
          <a:solidFill>
            <a:srgbClr val="B45309">
              <a:alpha val="81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538728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366674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that meaningfully move the output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548640" y="4233672"/>
            <a:ext cx="5120640" cy="658368"/>
          </a:xfrm>
          <a:prstGeom prst="trapezoid">
            <a:avLst/>
          </a:prstGeom>
          <a:solidFill>
            <a:srgbClr val="B45309">
              <a:alpha val="9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8853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441655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inputs accepted as true for modeling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income statement projection. Start with revenue, apply the growth rate, then layer in costs using th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taxes and NOPAT. Apply the effective tax rate to EBIT to get Net Operating Profit After Tax.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free cash flow (FCF). Add back non-cash charges (depreciation), subtract capital expenditure, and adjus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each FCF to present value. Apply the WACC as the discount rate across the forecast horizon.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48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practice problems in your textbook chapter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45994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2026-07-09T15:43:06Z</dcterms:created>
  <dcterms:modified xsi:type="dcterms:W3CDTF">2026-07-09T15:43:06Z</dcterms:modified>
</cp:coreProperties>
</file>