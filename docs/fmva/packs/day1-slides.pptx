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80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Shape 1"/>
          <p:cNvSpPr/>
          <p:nvPr/>
        </p:nvSpPr>
        <p:spPr>
          <a:xfrm>
            <a:off x="256032" y="0"/>
            <a:ext cx="8887968" cy="109728"/>
          </a:xfrm>
          <a:prstGeom prst="rect">
            <a:avLst/>
          </a:prstGeom>
          <a:solidFill>
            <a:srgbClr val="B45309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Financial Modeling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85800" y="29718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FMVA Certification Prep: Financial Modeling and Valuation Bootcamp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4343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4709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content is educational material only and does not constitute financial, investment, or trading advice.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agenda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234440"/>
            <a:ext cx="76809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 and Vocabulary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Definitions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Financial Modeling Fits in Practice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Notation Conventions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Vocabulary to a New Model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Terminology in Action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 Modeling Procedure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Worked Numerical Example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and Pitfalls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 and Vocabulary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modeling blends accounting, finance, and applied mathematics.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vocabulary lets analysts, managers, and auditors work without ambiguity.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Precise terms enable clean audits and consistent communication across teams.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language is a prerequisite before any model is built.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shared, precise vocabulary is the non-negotiable foundation of every financial model.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Definitions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financial model is a structured, quantitative representation of a business situation.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are independently chosen values that drive model results.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are calculated results such as net income or enterprise value.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Drivers are inputs whose small changes swing key outputs materially.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demonstrate transaction possibility under assumptions, not perfect reality.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input, output, and driver distinctions is the starting point for building any model.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Financial Modeling Fits in Practice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appear in budgeting, M&amp;A, LBO, project finance, and equity research.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translate historical financial statements into forward-looking projections.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statements must be understandable, relevant, reliable, and comparable.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Well-built models preserve those statement qualities in every output.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models bridge historical reporting and forward-looking economic decisions across all finance disciplines.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Notation Conventions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font marks hardcoded inputs; black font marks formula-driven cells.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font signals a link to another worksheet or external file.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indexes time periods; r is the discount rate; g is the growth rate.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value is expressed as PV = CF_t ÷ (1 + r)^t.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notation prevents errors and accelerates model review.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Adopting standard notation from day one dramatically reduces errors and review time.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82296" cy="3108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Financial Modeling Procedure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468172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sequence transforms raw assumptions into actionable financial insights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91947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5F5F4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536192"/>
            <a:ext cx="310896" cy="27432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Scope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08483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time horizon and period frequency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78024" y="1842516"/>
            <a:ext cx="301752" cy="201168"/>
          </a:xfrm>
          <a:prstGeom prst="rightArrow">
            <a:avLst/>
          </a:prstGeom>
          <a:solidFill>
            <a:srgbClr val="B45309"/>
          </a:solidFill>
          <a:ln/>
        </p:spPr>
      </p:sp>
      <p:sp>
        <p:nvSpPr>
          <p:cNvPr id="11" name="Shape 9"/>
          <p:cNvSpPr/>
          <p:nvPr/>
        </p:nvSpPr>
        <p:spPr>
          <a:xfrm>
            <a:off x="2834640" y="146304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5F5F4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07792" y="1536192"/>
            <a:ext cx="310896" cy="27432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34640" y="1737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Income Statement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208483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to net income via growth rates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01184" y="1842516"/>
            <a:ext cx="301752" cy="201168"/>
          </a:xfrm>
          <a:prstGeom prst="rightArrow">
            <a:avLst/>
          </a:prstGeom>
          <a:solidFill>
            <a:srgbClr val="B45309"/>
          </a:solidFill>
          <a:ln/>
        </p:spPr>
      </p:sp>
      <p:sp>
        <p:nvSpPr>
          <p:cNvPr id="16" name="Shape 14"/>
          <p:cNvSpPr/>
          <p:nvPr/>
        </p:nvSpPr>
        <p:spPr>
          <a:xfrm>
            <a:off x="5257800" y="146304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5F5F4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30952" y="1536192"/>
            <a:ext cx="310896" cy="27432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57800" y="1737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Balance Sheet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57800" y="208483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assets, liabilities, equity drivers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63056" y="2496312"/>
            <a:ext cx="201168" cy="548640"/>
          </a:xfrm>
          <a:prstGeom prst="downArrow">
            <a:avLst/>
          </a:prstGeom>
          <a:solidFill>
            <a:srgbClr val="B45309"/>
          </a:solidFill>
          <a:ln/>
        </p:spPr>
      </p:sp>
      <p:sp>
        <p:nvSpPr>
          <p:cNvPr id="21" name="Shape 19"/>
          <p:cNvSpPr/>
          <p:nvPr/>
        </p:nvSpPr>
        <p:spPr>
          <a:xfrm>
            <a:off x="5257800" y="310896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5F5F4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30952" y="3182112"/>
            <a:ext cx="310896" cy="27432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57800" y="33832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Cash Flow Statement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57800" y="373075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operating, investing, financing flows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01184" y="3488436"/>
            <a:ext cx="301752" cy="201168"/>
          </a:xfrm>
          <a:prstGeom prst="leftArrow">
            <a:avLst/>
          </a:prstGeom>
          <a:solidFill>
            <a:srgbClr val="B45309"/>
          </a:solidFill>
          <a:ln/>
        </p:spPr>
      </p:sp>
      <p:sp>
        <p:nvSpPr>
          <p:cNvPr id="26" name="Shape 24"/>
          <p:cNvSpPr/>
          <p:nvPr/>
        </p:nvSpPr>
        <p:spPr>
          <a:xfrm>
            <a:off x="2834640" y="310896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5F5F4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07792" y="3182112"/>
            <a:ext cx="310896" cy="27432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834640" y="33832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Valuation Layer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834640" y="373075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DCF, debt coverage, or scenario comparison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78024" y="3488436"/>
            <a:ext cx="301752" cy="201168"/>
          </a:xfrm>
          <a:prstGeom prst="leftArrow">
            <a:avLst/>
          </a:prstGeom>
          <a:solidFill>
            <a:srgbClr val="B45309"/>
          </a:solidFill>
          <a:ln/>
        </p:spPr>
      </p:sp>
      <p:sp>
        <p:nvSpPr>
          <p:cNvPr id="31" name="Shape 29"/>
          <p:cNvSpPr/>
          <p:nvPr/>
        </p:nvSpPr>
        <p:spPr>
          <a:xfrm>
            <a:off x="411480" y="310896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5F5F4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" y="3182112"/>
            <a:ext cx="310896" cy="274320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" y="33832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Sensitivities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11480" y="373075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Vary key drivers to quantify output ranges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Vocabulary to a New Model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by identifying the specific decision the model must support.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all inputs in a dedicated assumption block at the model's top.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the two or three drivers most likely to swing the output.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formulas must reference the assumption block, never buried numbers.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base, upside, and downside scenarios; run sensitivity on top drivers.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Following a disciplined setup procedure ensures every assumption is visible and every output is traceable.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Terminology in Action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revenue of $500,000 growing at 8% is the input; growth rate is the driver.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Formula: Revenue_t = Revenue_0 × (1 + g)^t yields $629,856 in Year 3.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±2% growth rate swing produces a $70,000 spread in Year 3 revenue.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Hardcoding 1.08 inside a formula—instead of referencing a cell—is a critical mistake.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a simple three-year projection reveals why isolating the driver and referencing inputs correctly is essential.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 Modeling Procedure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professional model follows a disciplined, repeatable build sequence.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assumptions are transformed into outputs through defined, auditable steps.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Inputs, calculations, outputs, and checks each occupy distinct model layers.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Mastering this procedure is the foundation of professional modeling practice.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repeatable procedure turns financial modeling from art into a reliable, auditable discipline.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82296" cy="3108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Sensitivity: Growth Rate Impact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468172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$70K spread across scenarios proves growth rate is the primary model driver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91947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85800" y="4206240"/>
            <a:ext cx="7772400" cy="0"/>
          </a:xfrm>
          <a:prstGeom prst="line">
            <a:avLst/>
          </a:prstGeom>
          <a:noFill/>
          <a:ln w="12700">
            <a:solidFill>
              <a:srgbClr val="1C19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84020" y="1587902"/>
            <a:ext cx="777240" cy="261833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1501140" y="1313582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595508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455420" y="431596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 Growth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83380" y="1436880"/>
            <a:ext cx="777240" cy="27693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4000500" y="1162560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629856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954780" y="431596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 Base Case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682740" y="1280160"/>
            <a:ext cx="777240" cy="29260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6499860" y="1005840"/>
            <a:ext cx="1143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665500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54140" y="431596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Growth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Hard-coded assumptions include growth rates, tax rates, and capital expenditure figures.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data pulls in historical statements or market prices dynamically.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must never be buried inside formulas—every assumption must be instantly locatable.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font color-coding is the widely adopted standard for marking inputs.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Visible, isolated inputs are the single most important structural feature of a trustworthy model.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scope and time horizon before building any statement.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income statement first: revenue → EBIT → net income.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balance sheet using income-statement drivers like days sales outstanding.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 cash flow statement by linking to income statement and balance sheet.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valuation or decision layer, then run scenarios and sensitivities.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statements in a fixed sequence—income, balance sheet, cash flow, valuation—prevents structural errors.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include projected statements, valuation ranges, IRRs, and dashboards.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must be clearly separated from inputs at all times.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manually overwrite an output—every result must trace back to a formula.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clean formula chain rooted in inputs makes outputs fully auditable.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are only credible when they are fully formula-driven and traceable to their source inputs.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82296" cy="3108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Model Component Hierarchy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4681728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of clean inputs supports every layer above; never hardcode in formulas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491947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 flipV="1">
            <a:off x="2084832" y="1234440"/>
            <a:ext cx="2048256" cy="658368"/>
          </a:xfrm>
          <a:prstGeom prst="trapezoid">
            <a:avLst/>
          </a:prstGeom>
          <a:solidFill>
            <a:srgbClr val="B45309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084832" y="1289304"/>
            <a:ext cx="20482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Output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0" y="1417320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or go/no-go recommendation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 flipV="1">
            <a:off x="1700784" y="1984248"/>
            <a:ext cx="2816352" cy="658368"/>
          </a:xfrm>
          <a:prstGeom prst="trapezoid">
            <a:avLst/>
          </a:prstGeom>
          <a:solidFill>
            <a:srgbClr val="B45309">
              <a:alpha val="5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700784" y="2039112"/>
            <a:ext cx="28163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Scenarios &amp; Sensitivity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2167128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Base, upside, downside driver variations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 flipV="1">
            <a:off x="1316736" y="2734056"/>
            <a:ext cx="3584448" cy="658368"/>
          </a:xfrm>
          <a:prstGeom prst="trapezoid">
            <a:avLst/>
          </a:prstGeom>
          <a:solidFill>
            <a:srgbClr val="B45309">
              <a:alpha val="67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316736" y="2788920"/>
            <a:ext cx="35844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Formulas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60720" y="2916936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referencing only assumption block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flipV="1">
            <a:off x="932688" y="3483864"/>
            <a:ext cx="4352544" cy="658368"/>
          </a:xfrm>
          <a:prstGeom prst="trapezoid">
            <a:avLst/>
          </a:prstGeom>
          <a:solidFill>
            <a:srgbClr val="B45309">
              <a:alpha val="81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3538728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Drivers Identified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60720" y="3666744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three inputs with outsized impact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 flipV="1">
            <a:off x="548640" y="4233672"/>
            <a:ext cx="5120640" cy="658368"/>
          </a:xfrm>
          <a:prstGeom prst="trapezoid">
            <a:avLst/>
          </a:prstGeom>
          <a:solidFill>
            <a:srgbClr val="B45309">
              <a:alpha val="9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288536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 Block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60720" y="4416552"/>
            <a:ext cx="2926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inputs isolated, labeled, color-coded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assets must equal total liabilities plus equity in every period.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cash on the cash flow statement must match the balance sheet cash line.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intentional circular references such as revolver interest calculations.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dedicated checks row displaying 0 confirms the model balances correctly.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checks transform a model from a liability into a reliable decision-support tool.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Worked Numerical Example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grows 10% from $500,000 base to $550,000 in Year 1.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profit of $220,000 minus $80,000 OpEx yields EBIT of $140,000.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income after 25% tax is $105,000; add $10,000 depreciation for $115,000 operating cash flow.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Ending cash: $40,000 + $115,000 − $15,000 CapEx = $140,000.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$140,000 must appear identically on both the cash flow statement and balance sheet.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Walking through a complete numerical example confirms that every modeling step and check connects correctly.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02336"/>
            <a:ext cx="82296" cy="32918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92608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and Pitfalls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832104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8646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118872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DCF models estimate intrinsic value by discounting projected free cash flows.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models translate revenue drivers into full projected financial statements.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Merger models assess EPS accretion or dilution and evaluate deal pricing.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and sensitivity analysis quantify output ranges across key driver changes.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pitfalls include hardcoded numbers, broken links, and unchecked circulars.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41648"/>
            <a:ext cx="7680960" cy="566928"/>
          </a:xfrm>
          <a:prstGeom prst="roundRect">
            <a:avLst>
              <a:gd name="adj" fmla="val 12903"/>
            </a:avLst>
          </a:prstGeom>
          <a:solidFill>
            <a:srgbClr val="B45309">
              <a:alpha val="12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8736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  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models create the most value when deployed with clear business questions and rigorous error controls.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751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1488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practice problems in your textbook chapter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459943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Forge Pro (owner) — This content is educational material only and does not constitute financial, investment, or trading advice.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2026-07-09T15:09:48Z</dcterms:created>
  <dcterms:modified xsi:type="dcterms:W3CDTF">2026-07-09T15:09:48Z</dcterms:modified>
</cp:coreProperties>
</file>