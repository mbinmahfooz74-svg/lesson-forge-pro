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80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8887968" cy="109728"/>
          </a:xfrm>
          <a:prstGeom prst="rect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to Financial Modeling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85800" y="29718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FMVA Certification Prep: Financial Modeling and Valuation Bootcamp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4343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47091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content is educational material only and does not constitute financial, investment, or trading advice.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agenda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7680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 Financial Modeling: Scope, Purpose, and Boundaries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Core Components of a Financial Model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Statements as Model Inputs: Reading the Source Data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Modeling in Corporate Finance: Use Cases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Modeling in Investment Contexts: Valuation and Return Analysis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and Common Pitfalls in Model Design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 Financial Modeling: Scope, Purpose, and Boundaries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financial model is built to support one specific decision.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translate real-world assumptions into numerical outputs.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costs, and margins feed through formulas to produce results.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decision context, a model is just a spreadsheet.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modeling choice—scope, detail, assumptions—flows from the decision the model must support.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Core Components of a Financial Model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and assumptions are the engine; isolate them visually.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font marks hard-coded assumptions; black marks derived formulas.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Hard-coding numbers inside formulas is a costly, common error.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key drivers—growth rates, margins, tax rates—belong in one place.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clean input layer lets any user audit and stress-test instantly.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Mastering the structural building blocks of a model lets you build or navigate any professional model.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Income by Scenario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model structure; only unit volume assumption changes across scenarios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4206240"/>
            <a:ext cx="77724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84020" y="4206240"/>
            <a:ext cx="777240" cy="274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501140" y="393192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5542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Case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183380" y="3035808"/>
            <a:ext cx="777240" cy="11704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4000500" y="27614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95478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682740" y="1280160"/>
            <a:ext cx="777240" cy="29260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6499860" y="100584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37500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5414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Case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Statements as Model Inputs: Reading the Source Data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statement supplies revenue and margin assumption baselines.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 provides working capital, debt, and capital structure data.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 statement reconciles net income to actual cash generated.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cash flow statement is the most reliable of the three inputs.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a company's historical financials is the essential first step before projecting its future performance.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Modeling in Corporate Finance: Use Cases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Budgeting models project revenues, costs, and cash flows over 1–3 years.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M&amp;A models assess deal value, synergies, and accretion or dilution.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force every assumption to be explicit and testable.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use case is driven by a distinct decision context.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financial model's purpose is always defined by the corporate finance decision it is built to answer.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Core Model Components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assumptions support every layer above; change inputs, all outputs update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 flipV="1">
            <a:off x="2084832" y="1234440"/>
            <a:ext cx="2048256" cy="658368"/>
          </a:xfrm>
          <a:prstGeom prst="trapezoid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2084832" y="1289304"/>
            <a:ext cx="20482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Output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1417320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Valuation, accretion, or cash flow answer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1700784" y="1984248"/>
            <a:ext cx="2816352" cy="658368"/>
          </a:xfrm>
          <a:prstGeom prst="trapezoid">
            <a:avLst/>
          </a:prstGeom>
          <a:solidFill>
            <a:srgbClr val="B45309">
              <a:alpha val="5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700784" y="2039112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Scenarios &amp; Sensitivity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60720" y="2167128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of outputs across assumptions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1316736" y="2734056"/>
            <a:ext cx="3584448" cy="658368"/>
          </a:xfrm>
          <a:prstGeom prst="trapezoid">
            <a:avLst/>
          </a:prstGeom>
          <a:solidFill>
            <a:srgbClr val="B45309">
              <a:alpha val="67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2788920"/>
            <a:ext cx="35844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 &amp; Valuation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60720" y="291693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cash flow, DCF, terminal value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932688" y="3483864"/>
            <a:ext cx="4352544" cy="658368"/>
          </a:xfrm>
          <a:prstGeom prst="trapezoid">
            <a:avLst/>
          </a:prstGeom>
          <a:solidFill>
            <a:srgbClr val="B45309">
              <a:alpha val="81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538728"/>
            <a:ext cx="4352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Statement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60720" y="3666744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down to net income projection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V="1">
            <a:off x="548640" y="4233672"/>
            <a:ext cx="5120640" cy="658368"/>
          </a:xfrm>
          <a:prstGeom prst="trapezoid">
            <a:avLst/>
          </a:prstGeom>
          <a:solidFill>
            <a:srgbClr val="B45309">
              <a:alpha val="9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885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&amp; Assumptions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60720" y="441655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key drivers in one labeled area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Modeling in Investment Contexts: Valuation and Return Analysis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analysis projects free cash flows and discounts them to present value.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value captures all cash flows beyond the explicit forecast horizon.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Comparable company and precedent transaction analyses benchmark valuation.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Buy-side and sell-side models share identical underlying logic.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frameworks estimate future cash flows adjusted for risk.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Regardless of the investment context, every valuation model reduces to estimating future cash flows at a risk-adjusted rate.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 Formula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data and structure yield different outputs when assumptions differ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rate, margin, discount rate inputs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7802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283464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0779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3464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Formulas, schedules, logical linkages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0118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3095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5780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Data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financials anchor projections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63056" y="2496312"/>
            <a:ext cx="201168" cy="548640"/>
          </a:xfrm>
          <a:prstGeom prst="downArrow">
            <a:avLst/>
          </a:prstGeom>
          <a:solidFill>
            <a:srgbClr val="B45309"/>
          </a:solidFill>
          <a:ln/>
        </p:spPr>
      </p:sp>
      <p:sp>
        <p:nvSpPr>
          <p:cNvPr id="21" name="Shape 19"/>
          <p:cNvSpPr/>
          <p:nvPr/>
        </p:nvSpPr>
        <p:spPr>
          <a:xfrm>
            <a:off x="525780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3095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5780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780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cash flow, valuation range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0118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26" name="Shape 24"/>
          <p:cNvSpPr/>
          <p:nvPr/>
        </p:nvSpPr>
        <p:spPr>
          <a:xfrm>
            <a:off x="283464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0779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Support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3464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Acquisition, plan, or capital choice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and Common Pitfalls in Model Design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font marks inputs; black font marks formula-derived outputs.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numbers buried in formulas are flagged in contrasting color.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separation of inputs from calculations is non-negotiable.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Transparency and auditability matter as much as mathematical accuracy.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modeling discipline—consistent color-coding, clean structure, no hidden hard-codes—determines whether a model survives scrutiny.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1488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practice problems in your textbook chapter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459943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2026-07-09T20:17:24Z</dcterms:created>
  <dcterms:modified xsi:type="dcterms:W3CDTF">2026-07-09T20:17:24Z</dcterms:modified>
</cp:coreProperties>
</file>