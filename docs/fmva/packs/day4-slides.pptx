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80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109728"/>
          </a:xfrm>
          <a:prstGeom prst="rect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Planning and Sensitivity Analysis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29718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FMVA Certification Prep: Financial Modeling and Valuation Bootcamp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47091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content is educational material only and does not constitute financial, investment, or trading advice.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agenda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7680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and Vocabulary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Procedure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Step-by-Step Procedure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and Checks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and Pitfalls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Sanity Checks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A Flawed Attempt, Corrected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and Vocabulary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maps inputs through relationships to a decision-relevant output.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variables (drivers) include growth rate, margin, and discount rate.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variables are metrics like NPV, EPS, or free cash flow.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Precise vocabulary is essential for client, colleague, and examiner credibility.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Mastering core definitions is the prerequisite for every scenario and sensitivity conversation.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Procedure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structured, repeatable procedure converts assumptions into trustworthy outputs.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insight requires discipline—not just impressive-looking spreadsheets.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moves from clearly defined inputs through the model to interrogable results.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Repeatability ensures results can be audited, challenged, and updated.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rigorous shared procedure separates analysts who drive decisions from those who produce noise.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base-case assumptions: the single most-likely value per driver.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driver ranges using historical data, benchmarks, or expert judgment.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working model with explicit, auditable formulas linking inputs to outputs.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decision-relevant output metrics: NPV, EBITDA, or free cash flow.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Gathering and documenting all four input categories before modeling prevents downstream errors.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Scenario &amp; Sensitivity Procedure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repeatable steps from assumption gathering to actionable scenario output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anchor output with all base assumptions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7802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283464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0779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3464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Drivers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and rank all input assumptions by importance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0118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3095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780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Scenarios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coherent input sets to Base, Up, Down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63056" y="2496312"/>
            <a:ext cx="201168" cy="548640"/>
          </a:xfrm>
          <a:prstGeom prst="downArrow">
            <a:avLst/>
          </a:prstGeom>
          <a:solidFill>
            <a:srgbClr val="B45309"/>
          </a:solidFill>
          <a:ln/>
        </p:spPr>
      </p:sp>
      <p:sp>
        <p:nvSpPr>
          <p:cNvPr id="21" name="Shape 19"/>
          <p:cNvSpPr/>
          <p:nvPr/>
        </p:nvSpPr>
        <p:spPr>
          <a:xfrm>
            <a:off x="525780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3095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5780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One-Way Sensitivity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780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one driver at a time, hold others constant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0118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26" name="Shape 24"/>
          <p:cNvSpPr/>
          <p:nvPr/>
        </p:nvSpPr>
        <p:spPr>
          <a:xfrm>
            <a:off x="283464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0779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Tornado Chart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drivers by largest to smallest output swing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7802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31" name="Shape 29"/>
          <p:cNvSpPr/>
          <p:nvPr/>
        </p:nvSpPr>
        <p:spPr>
          <a:xfrm>
            <a:off x="41148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Scenario Run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1148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all scenario sets, compare output results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Step-by-Step Procedure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Run the base case to establish your anchor output.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List and rank all drivers; focus narrative on the top three to five.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Build coherent named scenarios—Base, Upside, Downside—with consistent driver sets.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Run one-way sensitivity, isolating each driver while holding others at base.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5: Rank drivers by output swing to build a tornado chart.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Following each step in sequence ensures every driver's impact is isolated and comparable.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Base-case NPV: $10M revenue × 22% margin, 10% discount rate = $0.818M.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swing (low to high): NPV moves from $0.055M to $1.582M—a $1.527M range.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rate swing (8% to 12%) also shifts NPV, isolating rate's independent impact.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driver is tested separately; results feed directly into the tornado ranking.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concrete two-year example shows exactly how one-way sensitivity quantifies each driver's leverage.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and Checks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Deliverables: base-case output, tornado table, and named-scenario summary table.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check: confirm each driver moves output in the expected direction.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check: base case must sit between downside and upside outputs.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 tornado charts to top three to five drivers—more rows add noise, not insight.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systematic checks before presenting catches formula errors and keeps the narrative focused.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Sensitivity: Price vs. Profit Impact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 scenario cuts profit 63%; price sensitivity coefficient of 2.5 flags pricing as top risk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4206240"/>
            <a:ext cx="77724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280160"/>
            <a:ext cx="777240" cy="29260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0058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40000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4300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Profit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46120" y="3123590"/>
            <a:ext cx="777240" cy="10826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3063240" y="284927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01752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 Scenario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120640" y="2011680"/>
            <a:ext cx="777240" cy="219456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73736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30000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9204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−$5 Only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995160" y="4187952"/>
            <a:ext cx="777240" cy="27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6812280" y="3913632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Sensitivity Coeff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and Pitfalls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and sensitivity analysis apply wherever uncertainty is high and stakes are significant.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uses: DCF valuation, FP&amp;A budgeting, capital budgeting, credit stress-testing, M&amp;A modeling.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Mechanics alone are insufficient—knowing where to apply them distinguishes excellent analysts.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Pitfalls emerge when tools are misapplied or results are presented without context.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 applicability makes these tools essential, but context determines whether they drive real decisions.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Flexing revenue without adjusting correlated variable costs inflates margins unrealistically.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Arbitrary ±10% shocks ignore historical volatility, guidance ranges, and contractual bounds.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Mixing sensitivity and scenario analysis produces outputs that are hard to interpret.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Anchoring on the base case without seriously questioning its assumptions distorts conclusions.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dangerous errors come from ignoring input correlations and conflating two distinct analytical methods.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vs. Sensitivity: When to Use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technique based on whether you need driver isolation or a consistent narrative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011680" y="1234440"/>
            <a:ext cx="5120640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1234440"/>
            <a:ext cx="0" cy="3108960"/>
          </a:xfrm>
          <a:prstGeom prst="line">
            <a:avLst/>
          </a:prstGeom>
          <a:noFill/>
          <a:ln w="11430">
            <a:solidFill>
              <a:srgbClr val="1C19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2788920"/>
            <a:ext cx="5120640" cy="0"/>
          </a:xfrm>
          <a:prstGeom prst="line">
            <a:avLst/>
          </a:prstGeom>
          <a:noFill/>
          <a:ln w="11430">
            <a:solidFill>
              <a:srgbClr val="1C19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40280" y="16002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240280" y="1600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Planning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inputs change in one coherent story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00600" y="16002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600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Analysis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input moves; all others held constant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40280" y="315468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2240280" y="3154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Coherence Need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scenario when drivers are logically linked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315468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3154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Isolation Need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sensitivity to rank individual driver impact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439826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Driver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0" y="439826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Drivers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" y="1280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Coherent Story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" y="4023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Effect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Sanity Checks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test: NPV must fall when discount rate rises—flag any reversal immediately.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Magnitude test: a ±1% revenue change should not swing NPV by 300%.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Limiting case test: zero revenue must produce a large negative NPV, not a positive one.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Sum-of-parts check: individual sensitivity swings should roughly explain total scenario variance.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targeted sanity checks catch formula errors before flawed results reach decision-makers.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A Flawed Attempt, Corrected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Base-case NPV: –$600k outlay plus three discounted cash flows equals +$13.82k.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Flaw: analyst varied discount rate and Year 3 cash flow simultaneously, calling it sensitivity analysis.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approach: isolate each variable separately to measure its true marginal impact.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Two-variable grids are valid scenario tools but must never be labeled one-way sensitivity.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Isolating one variable at a time is the defining discipline that makes sensitivity analysis interpretable.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1488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practice problems in your textbook chapter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4599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2026-07-09T15:25:50Z</dcterms:created>
  <dcterms:modified xsi:type="dcterms:W3CDTF">2026-07-09T15:25:50Z</dcterms:modified>
</cp:coreProperties>
</file>