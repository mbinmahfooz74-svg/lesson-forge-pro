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5148072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Shape 1"/>
          <p:cNvSpPr/>
          <p:nvPr/>
        </p:nvSpPr>
        <p:spPr>
          <a:xfrm>
            <a:off x="256032" y="0"/>
            <a:ext cx="8887968" cy="109728"/>
          </a:xfrm>
          <a:prstGeom prst="rect">
            <a:avLst/>
          </a:prstGeom>
          <a:solidFill>
            <a:srgbClr val="B45309">
              <a:alpha val="4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051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4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85800" y="141732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Scenario Planning and Sensitivity Analysis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685800" y="29718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FMVA Certification Prep: Financial Modeling and Valuation Bootcamp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434340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47091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content is educational material only and does not constitute financial, investment, or trading advice.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02336"/>
            <a:ext cx="82296" cy="32918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Today's agenda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864608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234440"/>
            <a:ext cx="768096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Scenario Planning Frameworks: Base, Bull, and Bear Cases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One-Variable Sensitivity Analysis and Tornado Charts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Two-Variable Data Tables and Heat Maps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Break-Even and Goal-Seek Analysis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Variance-Based and Global Sensitivity Methods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Interactive Scenario Dashboards in Excel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02336"/>
            <a:ext cx="82296" cy="32918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Scenario Planning Frameworks: Base, Bull, and Bear Cases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864608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scenario bundles every assumption that moves together logically.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Changing one input while freezing others creates internally inconsistent models.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Accelerating growth drives headcount, infrastructure, working capital simultaneously.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case anchors to management guidance and consensus estimates.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Bull and bear cases reflect coherent real-world condition sets, not single toggles.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041648"/>
            <a:ext cx="7680960" cy="566928"/>
          </a:xfrm>
          <a:prstGeom prst="roundRect">
            <a:avLst>
              <a:gd name="adj" fmla="val 12903"/>
            </a:avLst>
          </a:prstGeom>
          <a:solidFill>
            <a:srgbClr val="B45309">
              <a:alpha val="12000"/>
            </a:srgbClr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087368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 </a:t>
            </a:r>
            <a:pPr indent="0" marL="0">
              <a:buNone/>
            </a:pPr>
            <a:r>
              <a:rPr lang="en-US" sz="115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 scenarios are internally consistent assumption bundles, not single-cell toggles.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02336"/>
            <a:ext cx="82296" cy="32918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One-Variable Sensitivity Analysis and Tornado Charts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864608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 one input, hold all others fixed, record output across a range.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convention: vary each input ±10–20% from base case.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 output swing to measure each input's valuation impact.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Tornado chart ranks inputs by swing size, largest bar on top.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chart reveals where model risk actually lives.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041648"/>
            <a:ext cx="7680960" cy="566928"/>
          </a:xfrm>
          <a:prstGeom prst="roundRect">
            <a:avLst>
              <a:gd name="adj" fmla="val 12903"/>
            </a:avLst>
          </a:prstGeom>
          <a:solidFill>
            <a:srgbClr val="B45309">
              <a:alpha val="12000"/>
            </a:srgbClr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087368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 </a:t>
            </a:r>
            <a:pPr indent="0" marL="0">
              <a:buNone/>
            </a:pPr>
            <a:r>
              <a:rPr lang="en-US" sz="115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Tornado charts honestly map which single inputs drive the most valuation uncertainty.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384048"/>
            <a:ext cx="82296" cy="310896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Scenario Planning Build Order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66928" y="4681728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bear case first to avoid anchoring bull and base to optimism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4919472"/>
            <a:ext cx="8321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11480" y="146304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5F5F4"/>
          </a:solidFill>
          <a:ln w="15240">
            <a:solidFill>
              <a:srgbClr val="B4530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" y="1536192"/>
            <a:ext cx="310896" cy="274320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73736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Bear Narrative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11480" y="2084832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Identify specific risks before touching numbers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478024" y="1842516"/>
            <a:ext cx="301752" cy="201168"/>
          </a:xfrm>
          <a:prstGeom prst="rightArrow">
            <a:avLst/>
          </a:prstGeom>
          <a:solidFill>
            <a:srgbClr val="B45309"/>
          </a:solidFill>
          <a:ln/>
        </p:spPr>
      </p:sp>
      <p:sp>
        <p:nvSpPr>
          <p:cNvPr id="11" name="Shape 9"/>
          <p:cNvSpPr/>
          <p:nvPr/>
        </p:nvSpPr>
        <p:spPr>
          <a:xfrm>
            <a:off x="2834640" y="146304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5F5F4"/>
          </a:solidFill>
          <a:ln w="15240">
            <a:solidFill>
              <a:srgbClr val="B4530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07792" y="1536192"/>
            <a:ext cx="310896" cy="274320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834640" y="173736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Bull Narrative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834640" y="2084832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catalysts; confirm growth-capex linkage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901184" y="1842516"/>
            <a:ext cx="301752" cy="201168"/>
          </a:xfrm>
          <a:prstGeom prst="rightArrow">
            <a:avLst/>
          </a:prstGeom>
          <a:solidFill>
            <a:srgbClr val="B45309"/>
          </a:solidFill>
          <a:ln/>
        </p:spPr>
      </p:sp>
      <p:sp>
        <p:nvSpPr>
          <p:cNvPr id="16" name="Shape 14"/>
          <p:cNvSpPr/>
          <p:nvPr/>
        </p:nvSpPr>
        <p:spPr>
          <a:xfrm>
            <a:off x="5257800" y="146304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5F5F4"/>
          </a:solidFill>
          <a:ln w="15240">
            <a:solidFill>
              <a:srgbClr val="B4530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30952" y="1536192"/>
            <a:ext cx="310896" cy="274320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257800" y="173736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Base Narrative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257800" y="2084832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 to guidance and consensus estimates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163056" y="2496312"/>
            <a:ext cx="201168" cy="548640"/>
          </a:xfrm>
          <a:prstGeom prst="downArrow">
            <a:avLst/>
          </a:prstGeom>
          <a:solidFill>
            <a:srgbClr val="B45309"/>
          </a:solidFill>
          <a:ln/>
        </p:spPr>
      </p:sp>
      <p:sp>
        <p:nvSpPr>
          <p:cNvPr id="21" name="Shape 19"/>
          <p:cNvSpPr/>
          <p:nvPr/>
        </p:nvSpPr>
        <p:spPr>
          <a:xfrm>
            <a:off x="5257800" y="310896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5F5F4"/>
          </a:solidFill>
          <a:ln w="15240">
            <a:solidFill>
              <a:srgbClr val="B4530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30952" y="3182112"/>
            <a:ext cx="310896" cy="274320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257800" y="338328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Populate All Assumptions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257800" y="3730752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 all three cases simultaneously, never copy-paste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901184" y="3488436"/>
            <a:ext cx="301752" cy="201168"/>
          </a:xfrm>
          <a:prstGeom prst="leftArrow">
            <a:avLst/>
          </a:prstGeom>
          <a:solidFill>
            <a:srgbClr val="B45309"/>
          </a:solidFill>
          <a:ln/>
        </p:spPr>
      </p:sp>
      <p:sp>
        <p:nvSpPr>
          <p:cNvPr id="26" name="Shape 24"/>
          <p:cNvSpPr/>
          <p:nvPr/>
        </p:nvSpPr>
        <p:spPr>
          <a:xfrm>
            <a:off x="2834640" y="310896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5F5F4"/>
          </a:solidFill>
          <a:ln w="15240">
            <a:solidFill>
              <a:srgbClr val="B4530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07792" y="3182112"/>
            <a:ext cx="310896" cy="274320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834640" y="338328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Internal Consistency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834640" y="3730752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Margin, capex, working capital move together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478024" y="3488436"/>
            <a:ext cx="301752" cy="201168"/>
          </a:xfrm>
          <a:prstGeom prst="leftArrow">
            <a:avLst/>
          </a:prstGeom>
          <a:solidFill>
            <a:srgbClr val="B45309"/>
          </a:solidFill>
          <a:ln/>
        </p:spPr>
      </p:sp>
      <p:sp>
        <p:nvSpPr>
          <p:cNvPr id="31" name="Shape 29"/>
          <p:cNvSpPr/>
          <p:nvPr/>
        </p:nvSpPr>
        <p:spPr>
          <a:xfrm>
            <a:off x="411480" y="310896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5F5F4"/>
          </a:solidFill>
          <a:ln w="15240">
            <a:solidFill>
              <a:srgbClr val="B4530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4632" y="3182112"/>
            <a:ext cx="310896" cy="274320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11480" y="338328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 Weighted Value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11480" y="3730752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 probabilities; stress-test probability mix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02336"/>
            <a:ext cx="82296" cy="32918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Two-Variable Data Tables and Heat Maps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864608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Excel's Data Table stresses two inputs across a full grid simultaneously.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Requires a row input cell, column input cell, and one formula output cell.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 substitutes every combination and recalculates the entire workbook automatically.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macros, helper columns, or manual copy-pasting needed.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Conditional formatting converts the output matrix into an instant heat map.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041648"/>
            <a:ext cx="7680960" cy="566928"/>
          </a:xfrm>
          <a:prstGeom prst="roundRect">
            <a:avLst>
              <a:gd name="adj" fmla="val 12903"/>
            </a:avLst>
          </a:prstGeom>
          <a:solidFill>
            <a:srgbClr val="B45309">
              <a:alpha val="12000"/>
            </a:srgbClr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087368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 </a:t>
            </a:r>
            <a:pPr indent="0" marL="0">
              <a:buNone/>
            </a:pPr>
            <a:r>
              <a:rPr lang="en-US" sz="115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Two-variable data tables expose the full interaction between two key drivers in one operation.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02336"/>
            <a:ext cx="82296" cy="32918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Break-Even and Goal-Seek Analysis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864608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 Seek back-solves for the exact input that hits a target output.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 required: output cell, target value, and one changeable input cell.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 iterates via Newton's method, converging in milliseconds.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Identifies the knife-edge between value creation and value destruction.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Produces a precise break-even figure, not an interpolated range.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041648"/>
            <a:ext cx="7680960" cy="566928"/>
          </a:xfrm>
          <a:prstGeom prst="roundRect">
            <a:avLst>
              <a:gd name="adj" fmla="val 12903"/>
            </a:avLst>
          </a:prstGeom>
          <a:solidFill>
            <a:srgbClr val="B45309">
              <a:alpha val="12000"/>
            </a:srgbClr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087368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 </a:t>
            </a:r>
            <a:pPr indent="0" marL="0">
              <a:buNone/>
            </a:pPr>
            <a:r>
              <a:rPr lang="en-US" sz="115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 Seek transforms you from a passive model reader into an active decision-maker.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384048"/>
            <a:ext cx="82296" cy="310896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Scenario Equity Values vs. Weighted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66928" y="4681728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Wide $0.42–$4.85 spread signals scenario selection drives conclusion more than WACC precision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4919472"/>
            <a:ext cx="8321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85800" y="4206240"/>
            <a:ext cx="7772400" cy="0"/>
          </a:xfrm>
          <a:prstGeom prst="line">
            <a:avLst/>
          </a:prstGeom>
          <a:noFill/>
          <a:ln w="12700">
            <a:solidFill>
              <a:srgbClr val="1C191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71600" y="3952848"/>
            <a:ext cx="777240" cy="253392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8" name="Text 6"/>
          <p:cNvSpPr/>
          <p:nvPr/>
        </p:nvSpPr>
        <p:spPr>
          <a:xfrm>
            <a:off x="1188720" y="3678528"/>
            <a:ext cx="1143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0.42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143000" y="4315968"/>
            <a:ext cx="1234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Bear Case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246120" y="3421930"/>
            <a:ext cx="777240" cy="78431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1" name="Text 9"/>
          <p:cNvSpPr/>
          <p:nvPr/>
        </p:nvSpPr>
        <p:spPr>
          <a:xfrm>
            <a:off x="3063240" y="3147610"/>
            <a:ext cx="1143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017520" y="4315968"/>
            <a:ext cx="1234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Case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120640" y="1280160"/>
            <a:ext cx="777240" cy="292608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4" name="Text 12"/>
          <p:cNvSpPr/>
          <p:nvPr/>
        </p:nvSpPr>
        <p:spPr>
          <a:xfrm>
            <a:off x="4937760" y="1005840"/>
            <a:ext cx="1143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4.85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892040" y="4315968"/>
            <a:ext cx="1234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Bull Case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995160" y="3017709"/>
            <a:ext cx="777240" cy="1188531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7" name="Text 15"/>
          <p:cNvSpPr/>
          <p:nvPr/>
        </p:nvSpPr>
        <p:spPr>
          <a:xfrm>
            <a:off x="6812280" y="2743389"/>
            <a:ext cx="1143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1.97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766560" y="4315968"/>
            <a:ext cx="1234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Prob-Weighted Value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02336"/>
            <a:ext cx="82296" cy="32918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Variance-Based and Global Sensitivity Methods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864608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One-at-a-time (OAT) analysis cannot detect interactions between inputs.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growth and margin compression often move together, not independently.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 input effects are not simply the sum of individual effects.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Variance-based methods attribute output variance to inputs and their interactions.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sensitivity methods give a more accurate picture of true model risk.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041648"/>
            <a:ext cx="7680960" cy="566928"/>
          </a:xfrm>
          <a:prstGeom prst="roundRect">
            <a:avLst>
              <a:gd name="adj" fmla="val 12903"/>
            </a:avLst>
          </a:prstGeom>
          <a:solidFill>
            <a:srgbClr val="B45309">
              <a:alpha val="12000"/>
            </a:srgbClr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087368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 </a:t>
            </a:r>
            <a:pPr indent="0" marL="0">
              <a:buNone/>
            </a:pPr>
            <a:r>
              <a:rPr lang="en-US" sz="115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Variance-based methods reveal interaction effects that OAT analysis systematically misses.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384048"/>
            <a:ext cx="82296" cy="310896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Scenario Assumption Trade-offs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66928" y="4681728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and investment intensity must move together for internally consistent scenarios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4919472"/>
            <a:ext cx="8321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2011680" y="1234440"/>
            <a:ext cx="5120640" cy="3108960"/>
          </a:xfrm>
          <a:prstGeom prst="rect">
            <a:avLst/>
          </a:prstGeom>
          <a:solidFill>
            <a:srgbClr val="FFFFFF"/>
          </a:solidFill>
          <a:ln w="15240">
            <a:solidFill>
              <a:srgbClr val="1C191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0" y="1234440"/>
            <a:ext cx="0" cy="3108960"/>
          </a:xfrm>
          <a:prstGeom prst="line">
            <a:avLst/>
          </a:prstGeom>
          <a:noFill/>
          <a:ln w="11430">
            <a:solidFill>
              <a:srgbClr val="1C191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011680" y="2788920"/>
            <a:ext cx="5120640" cy="0"/>
          </a:xfrm>
          <a:prstGeom prst="line">
            <a:avLst/>
          </a:prstGeom>
          <a:noFill/>
          <a:ln w="11430">
            <a:solidFill>
              <a:srgbClr val="1C191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240280" y="1600200"/>
            <a:ext cx="2103120" cy="822960"/>
          </a:xfrm>
          <a:prstGeom prst="roundRect">
            <a:avLst>
              <a:gd name="adj" fmla="val 11111"/>
            </a:avLst>
          </a:prstGeom>
          <a:solidFill>
            <a:srgbClr val="B45309">
              <a:alpha val="15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2240280" y="160020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Bull: High Growth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 CAGR; needs 10% capex, 8% WACC reward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800600" y="1600200"/>
            <a:ext cx="2103120" cy="822960"/>
          </a:xfrm>
          <a:prstGeom prst="roundRect">
            <a:avLst>
              <a:gd name="adj" fmla="val 11111"/>
            </a:avLst>
          </a:prstGeom>
          <a:solidFill>
            <a:srgbClr val="B45309">
              <a:alpha val="15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60020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Bull: High Investment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capex and working capital required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240280" y="3154680"/>
            <a:ext cx="2103120" cy="822960"/>
          </a:xfrm>
          <a:prstGeom prst="roundRect">
            <a:avLst>
              <a:gd name="adj" fmla="val 11111"/>
            </a:avLst>
          </a:prstGeom>
          <a:solidFill>
            <a:srgbClr val="B45309">
              <a:alpha val="15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2240280" y="315468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Bear: Low Growth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5% CAGR; lower capex but fixed costs persist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800600" y="3154680"/>
            <a:ext cx="2103120" cy="822960"/>
          </a:xfrm>
          <a:prstGeom prst="roundRect">
            <a:avLst>
              <a:gd name="adj" fmla="val 11111"/>
            </a:avLst>
          </a:prstGeom>
          <a:solidFill>
            <a:srgbClr val="B45309">
              <a:alpha val="15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800600" y="315468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Bear: Margin Squeeze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12% EBITDA margin; 12% WACC penalizes risk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920240" y="4398264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Revenue Growth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029200" y="4398264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Revenue Growth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720" y="12801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Capital Intensity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5720" y="40233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Capital Intensity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02336"/>
            <a:ext cx="82296" cy="32918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Interactive Scenario Dashboards in Excel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864608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Scenario Manager stores named input sets for Base, Bull, and Bear cases.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Designate the same changing cells across all three scenarios for consistency.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 table creates a permanent side-by-side assumption audit trail.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dropdown drives every chart, KPI, and output on the page.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controlled environment eliminates separate spreadsheets and manual swaps.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041648"/>
            <a:ext cx="7680960" cy="566928"/>
          </a:xfrm>
          <a:prstGeom prst="roundRect">
            <a:avLst>
              <a:gd name="adj" fmla="val 12903"/>
            </a:avLst>
          </a:prstGeom>
          <a:solidFill>
            <a:srgbClr val="B45309">
              <a:alpha val="12000"/>
            </a:srgbClr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087368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 </a:t>
            </a:r>
            <a:pPr indent="0" marL="0">
              <a:buNone/>
            </a:pPr>
            <a:r>
              <a:rPr lang="en-US" sz="115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interactive dashboard turns a static DCF into a living, single-source decision-support tool.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480560"/>
            <a:ext cx="9144000" cy="667512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1488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Next: practice problems in your textbook chapter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85800" y="4599432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2026-07-09T20:36:48Z</dcterms:created>
  <dcterms:modified xsi:type="dcterms:W3CDTF">2026-07-09T20:36:48Z</dcterms:modified>
</cp:coreProperties>
</file>